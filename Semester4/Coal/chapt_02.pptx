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0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48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3744" y="158495"/>
            <a:ext cx="4123943" cy="9022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64694" y="264668"/>
            <a:ext cx="361461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CC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CC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5583" y="158495"/>
            <a:ext cx="5161775" cy="9022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CC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0243" y="264668"/>
            <a:ext cx="2203513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CC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8315" y="1557933"/>
            <a:ext cx="5627369" cy="2439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175" y="6397034"/>
            <a:ext cx="3610610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23555" y="6320254"/>
            <a:ext cx="280670" cy="250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l.com/technology/memory/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3075" y="1552575"/>
            <a:ext cx="8939337" cy="5305425"/>
            <a:chOff x="203075" y="1552575"/>
            <a:chExt cx="8939337" cy="5305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1838" y="2709862"/>
              <a:ext cx="5870574" cy="41465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3075" y="1552575"/>
              <a:ext cx="5488305" cy="5305425"/>
            </a:xfrm>
            <a:custGeom>
              <a:avLst/>
              <a:gdLst/>
              <a:ahLst/>
              <a:cxnLst/>
              <a:rect l="l" t="t" r="r" b="b"/>
              <a:pathLst>
                <a:path w="5488305" h="5305425">
                  <a:moveTo>
                    <a:pt x="0" y="0"/>
                  </a:moveTo>
                  <a:lnTo>
                    <a:pt x="53544" y="8226"/>
                  </a:lnTo>
                  <a:lnTo>
                    <a:pt x="106920" y="16783"/>
                  </a:lnTo>
                  <a:lnTo>
                    <a:pt x="160128" y="25668"/>
                  </a:lnTo>
                  <a:lnTo>
                    <a:pt x="213166" y="34881"/>
                  </a:lnTo>
                  <a:lnTo>
                    <a:pt x="266031" y="44419"/>
                  </a:lnTo>
                  <a:lnTo>
                    <a:pt x="318723" y="54282"/>
                  </a:lnTo>
                  <a:lnTo>
                    <a:pt x="371241" y="64467"/>
                  </a:lnTo>
                  <a:lnTo>
                    <a:pt x="423581" y="74974"/>
                  </a:lnTo>
                  <a:lnTo>
                    <a:pt x="475744" y="85800"/>
                  </a:lnTo>
                  <a:lnTo>
                    <a:pt x="527727" y="96945"/>
                  </a:lnTo>
                  <a:lnTo>
                    <a:pt x="579529" y="108407"/>
                  </a:lnTo>
                  <a:lnTo>
                    <a:pt x="631149" y="120184"/>
                  </a:lnTo>
                  <a:lnTo>
                    <a:pt x="682584" y="132275"/>
                  </a:lnTo>
                  <a:lnTo>
                    <a:pt x="733834" y="144678"/>
                  </a:lnTo>
                  <a:lnTo>
                    <a:pt x="784897" y="157392"/>
                  </a:lnTo>
                  <a:lnTo>
                    <a:pt x="835771" y="170416"/>
                  </a:lnTo>
                  <a:lnTo>
                    <a:pt x="886455" y="183748"/>
                  </a:lnTo>
                  <a:lnTo>
                    <a:pt x="936947" y="197387"/>
                  </a:lnTo>
                  <a:lnTo>
                    <a:pt x="987246" y="211331"/>
                  </a:lnTo>
                  <a:lnTo>
                    <a:pt x="1037351" y="225578"/>
                  </a:lnTo>
                  <a:lnTo>
                    <a:pt x="1087259" y="240127"/>
                  </a:lnTo>
                  <a:lnTo>
                    <a:pt x="1136969" y="254978"/>
                  </a:lnTo>
                  <a:lnTo>
                    <a:pt x="1186480" y="270127"/>
                  </a:lnTo>
                  <a:lnTo>
                    <a:pt x="1235790" y="285574"/>
                  </a:lnTo>
                  <a:lnTo>
                    <a:pt x="1284898" y="301318"/>
                  </a:lnTo>
                  <a:lnTo>
                    <a:pt x="1333802" y="317356"/>
                  </a:lnTo>
                  <a:lnTo>
                    <a:pt x="1382500" y="333688"/>
                  </a:lnTo>
                  <a:lnTo>
                    <a:pt x="1430992" y="350311"/>
                  </a:lnTo>
                  <a:lnTo>
                    <a:pt x="1479275" y="367225"/>
                  </a:lnTo>
                  <a:lnTo>
                    <a:pt x="1527348" y="384428"/>
                  </a:lnTo>
                  <a:lnTo>
                    <a:pt x="1575210" y="401918"/>
                  </a:lnTo>
                  <a:lnTo>
                    <a:pt x="1622859" y="419694"/>
                  </a:lnTo>
                  <a:lnTo>
                    <a:pt x="1670293" y="437755"/>
                  </a:lnTo>
                  <a:lnTo>
                    <a:pt x="1717511" y="456099"/>
                  </a:lnTo>
                  <a:lnTo>
                    <a:pt x="1764511" y="474724"/>
                  </a:lnTo>
                  <a:lnTo>
                    <a:pt x="1811293" y="493630"/>
                  </a:lnTo>
                  <a:lnTo>
                    <a:pt x="1857854" y="512814"/>
                  </a:lnTo>
                  <a:lnTo>
                    <a:pt x="1904192" y="532275"/>
                  </a:lnTo>
                  <a:lnTo>
                    <a:pt x="1950307" y="552012"/>
                  </a:lnTo>
                  <a:lnTo>
                    <a:pt x="1996197" y="572024"/>
                  </a:lnTo>
                  <a:lnTo>
                    <a:pt x="2041861" y="592308"/>
                  </a:lnTo>
                  <a:lnTo>
                    <a:pt x="2087296" y="612863"/>
                  </a:lnTo>
                  <a:lnTo>
                    <a:pt x="2132501" y="633688"/>
                  </a:lnTo>
                  <a:lnTo>
                    <a:pt x="2177475" y="654782"/>
                  </a:lnTo>
                  <a:lnTo>
                    <a:pt x="2222216" y="676142"/>
                  </a:lnTo>
                  <a:lnTo>
                    <a:pt x="2266723" y="697768"/>
                  </a:lnTo>
                  <a:lnTo>
                    <a:pt x="2310994" y="719657"/>
                  </a:lnTo>
                  <a:lnTo>
                    <a:pt x="2355027" y="741809"/>
                  </a:lnTo>
                  <a:lnTo>
                    <a:pt x="2398822" y="764223"/>
                  </a:lnTo>
                  <a:lnTo>
                    <a:pt x="2442377" y="786895"/>
                  </a:lnTo>
                  <a:lnTo>
                    <a:pt x="2485689" y="809826"/>
                  </a:lnTo>
                  <a:lnTo>
                    <a:pt x="2528758" y="833013"/>
                  </a:lnTo>
                  <a:lnTo>
                    <a:pt x="2571582" y="856455"/>
                  </a:lnTo>
                  <a:lnTo>
                    <a:pt x="2614160" y="880151"/>
                  </a:lnTo>
                  <a:lnTo>
                    <a:pt x="2656489" y="904100"/>
                  </a:lnTo>
                  <a:lnTo>
                    <a:pt x="2698569" y="928298"/>
                  </a:lnTo>
                  <a:lnTo>
                    <a:pt x="2740398" y="952747"/>
                  </a:lnTo>
                  <a:lnTo>
                    <a:pt x="2781975" y="977442"/>
                  </a:lnTo>
                  <a:lnTo>
                    <a:pt x="2823297" y="1002384"/>
                  </a:lnTo>
                  <a:lnTo>
                    <a:pt x="2864364" y="1027571"/>
                  </a:lnTo>
                  <a:lnTo>
                    <a:pt x="2905173" y="1053002"/>
                  </a:lnTo>
                  <a:lnTo>
                    <a:pt x="2945724" y="1078674"/>
                  </a:lnTo>
                  <a:lnTo>
                    <a:pt x="2986015" y="1104586"/>
                  </a:lnTo>
                  <a:lnTo>
                    <a:pt x="3026044" y="1130738"/>
                  </a:lnTo>
                  <a:lnTo>
                    <a:pt x="3065810" y="1157127"/>
                  </a:lnTo>
                  <a:lnTo>
                    <a:pt x="3105311" y="1183752"/>
                  </a:lnTo>
                  <a:lnTo>
                    <a:pt x="3144545" y="1210611"/>
                  </a:lnTo>
                  <a:lnTo>
                    <a:pt x="3183512" y="1237704"/>
                  </a:lnTo>
                  <a:lnTo>
                    <a:pt x="3222210" y="1265028"/>
                  </a:lnTo>
                  <a:lnTo>
                    <a:pt x="3260637" y="1292582"/>
                  </a:lnTo>
                  <a:lnTo>
                    <a:pt x="3298791" y="1320365"/>
                  </a:lnTo>
                  <a:lnTo>
                    <a:pt x="3336672" y="1348374"/>
                  </a:lnTo>
                  <a:lnTo>
                    <a:pt x="3374277" y="1376610"/>
                  </a:lnTo>
                  <a:lnTo>
                    <a:pt x="3411605" y="1405070"/>
                  </a:lnTo>
                  <a:lnTo>
                    <a:pt x="3448655" y="1433753"/>
                  </a:lnTo>
                  <a:lnTo>
                    <a:pt x="3485425" y="1462656"/>
                  </a:lnTo>
                  <a:lnTo>
                    <a:pt x="3521913" y="1491780"/>
                  </a:lnTo>
                  <a:lnTo>
                    <a:pt x="3558119" y="1521122"/>
                  </a:lnTo>
                  <a:lnTo>
                    <a:pt x="3594039" y="1550681"/>
                  </a:lnTo>
                  <a:lnTo>
                    <a:pt x="3629674" y="1580455"/>
                  </a:lnTo>
                  <a:lnTo>
                    <a:pt x="3665021" y="1610444"/>
                  </a:lnTo>
                  <a:lnTo>
                    <a:pt x="3700079" y="1640644"/>
                  </a:lnTo>
                  <a:lnTo>
                    <a:pt x="3734847" y="1671056"/>
                  </a:lnTo>
                  <a:lnTo>
                    <a:pt x="3769322" y="1701677"/>
                  </a:lnTo>
                  <a:lnTo>
                    <a:pt x="3803504" y="1732507"/>
                  </a:lnTo>
                  <a:lnTo>
                    <a:pt x="3837390" y="1763542"/>
                  </a:lnTo>
                  <a:lnTo>
                    <a:pt x="3870980" y="1794783"/>
                  </a:lnTo>
                  <a:lnTo>
                    <a:pt x="3904271" y="1826228"/>
                  </a:lnTo>
                  <a:lnTo>
                    <a:pt x="3937263" y="1857875"/>
                  </a:lnTo>
                  <a:lnTo>
                    <a:pt x="3969953" y="1889722"/>
                  </a:lnTo>
                  <a:lnTo>
                    <a:pt x="4002341" y="1921769"/>
                  </a:lnTo>
                  <a:lnTo>
                    <a:pt x="4034424" y="1954013"/>
                  </a:lnTo>
                  <a:lnTo>
                    <a:pt x="4066202" y="1986454"/>
                  </a:lnTo>
                  <a:lnTo>
                    <a:pt x="4097672" y="2019089"/>
                  </a:lnTo>
                  <a:lnTo>
                    <a:pt x="4128833" y="2051918"/>
                  </a:lnTo>
                  <a:lnTo>
                    <a:pt x="4159684" y="2084939"/>
                  </a:lnTo>
                  <a:lnTo>
                    <a:pt x="4190223" y="2118150"/>
                  </a:lnTo>
                  <a:lnTo>
                    <a:pt x="4220448" y="2151550"/>
                  </a:lnTo>
                  <a:lnTo>
                    <a:pt x="4250359" y="2185137"/>
                  </a:lnTo>
                  <a:lnTo>
                    <a:pt x="4279953" y="2218911"/>
                  </a:lnTo>
                  <a:lnTo>
                    <a:pt x="4309229" y="2252868"/>
                  </a:lnTo>
                  <a:lnTo>
                    <a:pt x="4338185" y="2287009"/>
                  </a:lnTo>
                  <a:lnTo>
                    <a:pt x="4366821" y="2321332"/>
                  </a:lnTo>
                  <a:lnTo>
                    <a:pt x="4395133" y="2355835"/>
                  </a:lnTo>
                  <a:lnTo>
                    <a:pt x="4423122" y="2390516"/>
                  </a:lnTo>
                  <a:lnTo>
                    <a:pt x="4450785" y="2425374"/>
                  </a:lnTo>
                  <a:lnTo>
                    <a:pt x="4478121" y="2460409"/>
                  </a:lnTo>
                  <a:lnTo>
                    <a:pt x="4505128" y="2495617"/>
                  </a:lnTo>
                  <a:lnTo>
                    <a:pt x="4531805" y="2530998"/>
                  </a:lnTo>
                  <a:lnTo>
                    <a:pt x="4558151" y="2566550"/>
                  </a:lnTo>
                  <a:lnTo>
                    <a:pt x="4584163" y="2602273"/>
                  </a:lnTo>
                  <a:lnTo>
                    <a:pt x="4609840" y="2638163"/>
                  </a:lnTo>
                  <a:lnTo>
                    <a:pt x="4635181" y="2674221"/>
                  </a:lnTo>
                  <a:lnTo>
                    <a:pt x="4660184" y="2710443"/>
                  </a:lnTo>
                  <a:lnTo>
                    <a:pt x="4684848" y="2746830"/>
                  </a:lnTo>
                  <a:lnTo>
                    <a:pt x="4709171" y="2783379"/>
                  </a:lnTo>
                  <a:lnTo>
                    <a:pt x="4733152" y="2820089"/>
                  </a:lnTo>
                  <a:lnTo>
                    <a:pt x="4756789" y="2856959"/>
                  </a:lnTo>
                  <a:lnTo>
                    <a:pt x="4780080" y="2893987"/>
                  </a:lnTo>
                  <a:lnTo>
                    <a:pt x="4803024" y="2931171"/>
                  </a:lnTo>
                  <a:lnTo>
                    <a:pt x="4825620" y="2968510"/>
                  </a:lnTo>
                  <a:lnTo>
                    <a:pt x="4847866" y="3006003"/>
                  </a:lnTo>
                  <a:lnTo>
                    <a:pt x="4869761" y="3043649"/>
                  </a:lnTo>
                  <a:lnTo>
                    <a:pt x="4891302" y="3081444"/>
                  </a:lnTo>
                  <a:lnTo>
                    <a:pt x="4912489" y="3119389"/>
                  </a:lnTo>
                  <a:lnTo>
                    <a:pt x="4933320" y="3157482"/>
                  </a:lnTo>
                  <a:lnTo>
                    <a:pt x="4953794" y="3195721"/>
                  </a:lnTo>
                  <a:lnTo>
                    <a:pt x="4973908" y="3234105"/>
                  </a:lnTo>
                  <a:lnTo>
                    <a:pt x="4993661" y="3272632"/>
                  </a:lnTo>
                  <a:lnTo>
                    <a:pt x="5013053" y="3311302"/>
                  </a:lnTo>
                  <a:lnTo>
                    <a:pt x="5032080" y="3350111"/>
                  </a:lnTo>
                  <a:lnTo>
                    <a:pt x="5050743" y="3389059"/>
                  </a:lnTo>
                  <a:lnTo>
                    <a:pt x="5069039" y="3428145"/>
                  </a:lnTo>
                  <a:lnTo>
                    <a:pt x="5086966" y="3467367"/>
                  </a:lnTo>
                  <a:lnTo>
                    <a:pt x="5104524" y="3506724"/>
                  </a:lnTo>
                  <a:lnTo>
                    <a:pt x="5121710" y="3546213"/>
                  </a:lnTo>
                  <a:lnTo>
                    <a:pt x="5138524" y="3585834"/>
                  </a:lnTo>
                  <a:lnTo>
                    <a:pt x="5154963" y="3625585"/>
                  </a:lnTo>
                  <a:lnTo>
                    <a:pt x="5171027" y="3665465"/>
                  </a:lnTo>
                  <a:lnTo>
                    <a:pt x="5186713" y="3705471"/>
                  </a:lnTo>
                  <a:lnTo>
                    <a:pt x="5202020" y="3745604"/>
                  </a:lnTo>
                  <a:lnTo>
                    <a:pt x="5216947" y="3785861"/>
                  </a:lnTo>
                  <a:lnTo>
                    <a:pt x="5231492" y="3826240"/>
                  </a:lnTo>
                  <a:lnTo>
                    <a:pt x="5245653" y="3866741"/>
                  </a:lnTo>
                  <a:lnTo>
                    <a:pt x="5259430" y="3907362"/>
                  </a:lnTo>
                  <a:lnTo>
                    <a:pt x="5272820" y="3948100"/>
                  </a:lnTo>
                  <a:lnTo>
                    <a:pt x="5285822" y="3988956"/>
                  </a:lnTo>
                  <a:lnTo>
                    <a:pt x="5298434" y="4029927"/>
                  </a:lnTo>
                  <a:lnTo>
                    <a:pt x="5310655" y="4071012"/>
                  </a:lnTo>
                  <a:lnTo>
                    <a:pt x="5322484" y="4112210"/>
                  </a:lnTo>
                  <a:lnTo>
                    <a:pt x="5333918" y="4153518"/>
                  </a:lnTo>
                  <a:lnTo>
                    <a:pt x="5344957" y="4194937"/>
                  </a:lnTo>
                  <a:lnTo>
                    <a:pt x="5355599" y="4236463"/>
                  </a:lnTo>
                  <a:lnTo>
                    <a:pt x="5365842" y="4278095"/>
                  </a:lnTo>
                  <a:lnTo>
                    <a:pt x="5375685" y="4319833"/>
                  </a:lnTo>
                  <a:lnTo>
                    <a:pt x="5385126" y="4361674"/>
                  </a:lnTo>
                  <a:lnTo>
                    <a:pt x="5394164" y="4403618"/>
                  </a:lnTo>
                  <a:lnTo>
                    <a:pt x="5402797" y="4445662"/>
                  </a:lnTo>
                  <a:lnTo>
                    <a:pt x="5411024" y="4487805"/>
                  </a:lnTo>
                  <a:lnTo>
                    <a:pt x="5418843" y="4530046"/>
                  </a:lnTo>
                  <a:lnTo>
                    <a:pt x="5426253" y="4572384"/>
                  </a:lnTo>
                  <a:lnTo>
                    <a:pt x="5433251" y="4614816"/>
                  </a:lnTo>
                  <a:lnTo>
                    <a:pt x="5439838" y="4657342"/>
                  </a:lnTo>
                  <a:lnTo>
                    <a:pt x="5446010" y="4699959"/>
                  </a:lnTo>
                  <a:lnTo>
                    <a:pt x="5451768" y="4742667"/>
                  </a:lnTo>
                  <a:lnTo>
                    <a:pt x="5457108" y="4785464"/>
                  </a:lnTo>
                  <a:lnTo>
                    <a:pt x="5462029" y="4828348"/>
                  </a:lnTo>
                  <a:lnTo>
                    <a:pt x="5466531" y="4871318"/>
                  </a:lnTo>
                  <a:lnTo>
                    <a:pt x="5470611" y="4914373"/>
                  </a:lnTo>
                  <a:lnTo>
                    <a:pt x="5474268" y="4957510"/>
                  </a:lnTo>
                  <a:lnTo>
                    <a:pt x="5477501" y="5000729"/>
                  </a:lnTo>
                  <a:lnTo>
                    <a:pt x="5480308" y="5044029"/>
                  </a:lnTo>
                  <a:lnTo>
                    <a:pt x="5482687" y="5087407"/>
                  </a:lnTo>
                  <a:lnTo>
                    <a:pt x="5484636" y="5130862"/>
                  </a:lnTo>
                  <a:lnTo>
                    <a:pt x="5486156" y="5174393"/>
                  </a:lnTo>
                  <a:lnTo>
                    <a:pt x="5487243" y="5217998"/>
                  </a:lnTo>
                  <a:lnTo>
                    <a:pt x="5487896" y="5261675"/>
                  </a:lnTo>
                  <a:lnTo>
                    <a:pt x="5488114" y="5305425"/>
                  </a:lnTo>
                </a:path>
              </a:pathLst>
            </a:custGeom>
            <a:ln w="1270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31617" y="2573408"/>
            <a:ext cx="4983583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31265" marR="5080" indent="-12192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x86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Arial MT"/>
                <a:cs typeface="Arial MT"/>
              </a:rPr>
              <a:t>   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Processor</a:t>
            </a:r>
            <a:r>
              <a:rPr lang="en-US" sz="3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6802" y="795602"/>
            <a:ext cx="3275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Lecture </a:t>
            </a:r>
            <a:r>
              <a:rPr spc="-5" dirty="0"/>
              <a:t>Overview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758315" y="1557933"/>
            <a:ext cx="5627369" cy="202940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56590" indent="-342900">
              <a:lnSpc>
                <a:spcPct val="100000"/>
              </a:lnSpc>
              <a:spcBef>
                <a:spcPts val="6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General</a:t>
            </a:r>
            <a:r>
              <a:rPr spc="-15" dirty="0"/>
              <a:t> </a:t>
            </a:r>
            <a:r>
              <a:rPr spc="-5" dirty="0"/>
              <a:t>Concepts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5" dirty="0"/>
              <a:t> </a:t>
            </a:r>
            <a:r>
              <a:rPr spc="-5" dirty="0"/>
              <a:t>Processor</a:t>
            </a:r>
            <a:r>
              <a:rPr dirty="0"/>
              <a:t> </a:t>
            </a:r>
            <a:r>
              <a:rPr spc="-5" dirty="0"/>
              <a:t>Architecture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-15" dirty="0"/>
              <a:t> </a:t>
            </a:r>
            <a:r>
              <a:rPr spc="-5" dirty="0"/>
              <a:t>Memory</a:t>
            </a:r>
            <a:r>
              <a:rPr spc="10" dirty="0"/>
              <a:t> </a:t>
            </a:r>
            <a:r>
              <a:rPr spc="-5" dirty="0"/>
              <a:t>Management</a:t>
            </a:r>
          </a:p>
          <a:p>
            <a:pPr marL="656590" indent="-342900">
              <a:lnSpc>
                <a:spcPct val="100000"/>
              </a:lnSpc>
              <a:spcBef>
                <a:spcPts val="5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64-bit</a:t>
            </a:r>
            <a:r>
              <a:rPr spc="-20" dirty="0"/>
              <a:t> </a:t>
            </a:r>
            <a:r>
              <a:rPr spc="-5" dirty="0"/>
              <a:t>Processors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Components</a:t>
            </a:r>
            <a:r>
              <a:rPr spc="25" dirty="0"/>
              <a:t> </a:t>
            </a:r>
            <a:r>
              <a:rPr spc="-5" dirty="0"/>
              <a:t>of an IA-32</a:t>
            </a:r>
            <a:r>
              <a:rPr spc="5" dirty="0"/>
              <a:t> </a:t>
            </a:r>
            <a:r>
              <a:rPr spc="-5" dirty="0"/>
              <a:t>Microcomputer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0716" y="158495"/>
            <a:ext cx="3809999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1635" y="264668"/>
            <a:ext cx="329755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General</a:t>
            </a:r>
            <a:r>
              <a:rPr spc="-100" dirty="0"/>
              <a:t> </a:t>
            </a:r>
            <a:r>
              <a:rPr spc="-5" dirty="0"/>
              <a:t>Concepts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8939" y="1476248"/>
            <a:ext cx="4196715" cy="17811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Basic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microcomputer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Instruction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cycle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Reading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programs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run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311" y="158495"/>
            <a:ext cx="5702807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5230" y="264668"/>
            <a:ext cx="51904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</a:t>
            </a:r>
            <a:r>
              <a:rPr spc="-35" dirty="0"/>
              <a:t> </a:t>
            </a:r>
            <a:r>
              <a:rPr spc="-5" dirty="0"/>
              <a:t>Microcomputer</a:t>
            </a:r>
            <a:r>
              <a:rPr spc="-65" dirty="0"/>
              <a:t> </a:t>
            </a:r>
            <a:r>
              <a:rPr spc="-5" dirty="0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0739" y="1108049"/>
            <a:ext cx="688657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clock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synchronizes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CPU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unit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(CU)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coordinates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sequence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steps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ALU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performs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arithmetic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bitwise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processing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2514600"/>
            <a:ext cx="5638800" cy="2743200"/>
            <a:chOff x="1600200" y="2514600"/>
            <a:chExt cx="5638800" cy="2743200"/>
          </a:xfrm>
        </p:grpSpPr>
        <p:sp>
          <p:nvSpPr>
            <p:cNvPr id="6" name="object 6"/>
            <p:cNvSpPr/>
            <p:nvPr/>
          </p:nvSpPr>
          <p:spPr>
            <a:xfrm>
              <a:off x="1600200" y="2514600"/>
              <a:ext cx="5638800" cy="2743200"/>
            </a:xfrm>
            <a:custGeom>
              <a:avLst/>
              <a:gdLst/>
              <a:ahLst/>
              <a:cxnLst/>
              <a:rect l="l" t="t" r="r" b="b"/>
              <a:pathLst>
                <a:path w="5638800" h="2743200">
                  <a:moveTo>
                    <a:pt x="56388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5638800" y="2743200"/>
                  </a:lnTo>
                  <a:lnTo>
                    <a:pt x="56388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0743" y="3092889"/>
              <a:ext cx="1688464" cy="1410970"/>
            </a:xfrm>
            <a:custGeom>
              <a:avLst/>
              <a:gdLst/>
              <a:ahLst/>
              <a:cxnLst/>
              <a:rect l="l" t="t" r="r" b="b"/>
              <a:pathLst>
                <a:path w="1688464" h="1410970">
                  <a:moveTo>
                    <a:pt x="1688350" y="1410354"/>
                  </a:moveTo>
                  <a:lnTo>
                    <a:pt x="0" y="1410354"/>
                  </a:lnTo>
                  <a:lnTo>
                    <a:pt x="0" y="0"/>
                  </a:lnTo>
                  <a:lnTo>
                    <a:pt x="1688350" y="0"/>
                  </a:lnTo>
                  <a:lnTo>
                    <a:pt x="1688350" y="14103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0743" y="3092889"/>
              <a:ext cx="1688464" cy="1410970"/>
            </a:xfrm>
            <a:custGeom>
              <a:avLst/>
              <a:gdLst/>
              <a:ahLst/>
              <a:cxnLst/>
              <a:rect l="l" t="t" r="r" b="b"/>
              <a:pathLst>
                <a:path w="1688464" h="1410970">
                  <a:moveTo>
                    <a:pt x="0" y="1410354"/>
                  </a:moveTo>
                  <a:lnTo>
                    <a:pt x="1688348" y="1410354"/>
                  </a:lnTo>
                  <a:lnTo>
                    <a:pt x="1688348" y="0"/>
                  </a:lnTo>
                  <a:lnTo>
                    <a:pt x="0" y="0"/>
                  </a:lnTo>
                  <a:lnTo>
                    <a:pt x="0" y="1410354"/>
                  </a:lnTo>
                  <a:close/>
                </a:path>
              </a:pathLst>
            </a:custGeom>
            <a:ln w="11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46833" y="3602959"/>
            <a:ext cx="1554480" cy="364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2930" marR="5080" indent="-570865">
              <a:lnSpc>
                <a:spcPct val="101000"/>
              </a:lnSpc>
              <a:spcBef>
                <a:spcPts val="95"/>
              </a:spcBef>
            </a:pPr>
            <a:r>
              <a:rPr sz="1100" b="1" dirty="0">
                <a:latin typeface="Arial"/>
                <a:cs typeface="Arial"/>
              </a:rPr>
              <a:t>Central Processor Unit </a:t>
            </a:r>
            <a:r>
              <a:rPr sz="1100" b="1" spc="-29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(CPU)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0483" y="3092888"/>
            <a:ext cx="1196975" cy="1410970"/>
          </a:xfrm>
          <a:prstGeom prst="rect">
            <a:avLst/>
          </a:prstGeom>
          <a:solidFill>
            <a:srgbClr val="FFFFFF"/>
          </a:solidFill>
          <a:ln w="1126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Times New Roman"/>
              <a:cs typeface="Times New Roman"/>
            </a:endParaRPr>
          </a:p>
          <a:p>
            <a:pPr marL="472440" marR="68580" indent="-396240">
              <a:lnSpc>
                <a:spcPct val="101000"/>
              </a:lnSpc>
            </a:pPr>
            <a:r>
              <a:rPr sz="1100" dirty="0">
                <a:latin typeface="Arial MT"/>
                <a:cs typeface="Arial MT"/>
              </a:rPr>
              <a:t>Memory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Storage </a:t>
            </a:r>
            <a:r>
              <a:rPr sz="1100" spc="-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67187" y="3198194"/>
            <a:ext cx="915669" cy="212725"/>
          </a:xfrm>
          <a:prstGeom prst="rect">
            <a:avLst/>
          </a:prstGeom>
          <a:solidFill>
            <a:srgbClr val="FFFFFF"/>
          </a:solidFill>
          <a:ln w="11281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70"/>
              </a:spcBef>
            </a:pPr>
            <a:r>
              <a:rPr sz="1100" dirty="0">
                <a:latin typeface="Arial MT"/>
                <a:cs typeface="Arial MT"/>
              </a:rPr>
              <a:t>registers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7438" y="3092888"/>
            <a:ext cx="651510" cy="1410970"/>
          </a:xfrm>
          <a:prstGeom prst="rect">
            <a:avLst/>
          </a:prstGeom>
          <a:solidFill>
            <a:srgbClr val="FFFFFF"/>
          </a:solidFill>
          <a:ln w="112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108585" marR="100330" indent="-1905" algn="ctr">
              <a:lnSpc>
                <a:spcPct val="101000"/>
              </a:lnSpc>
            </a:pPr>
            <a:r>
              <a:rPr sz="1100" dirty="0">
                <a:latin typeface="Arial MT"/>
                <a:cs typeface="Arial MT"/>
              </a:rPr>
              <a:t>I/O 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5" dirty="0">
                <a:latin typeface="Arial MT"/>
                <a:cs typeface="Arial MT"/>
              </a:rPr>
              <a:t>vice  </a:t>
            </a:r>
            <a:r>
              <a:rPr sz="1100" dirty="0">
                <a:latin typeface="Arial MT"/>
                <a:cs typeface="Arial MT"/>
              </a:rPr>
              <a:t>#1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1611" y="3092888"/>
            <a:ext cx="651510" cy="1410970"/>
          </a:xfrm>
          <a:prstGeom prst="rect">
            <a:avLst/>
          </a:prstGeom>
          <a:solidFill>
            <a:srgbClr val="FFFFFF"/>
          </a:solidFill>
          <a:ln w="1126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108585" marR="100330" indent="-1905" algn="ctr">
              <a:lnSpc>
                <a:spcPct val="101000"/>
              </a:lnSpc>
            </a:pPr>
            <a:r>
              <a:rPr sz="1100" dirty="0">
                <a:latin typeface="Arial MT"/>
                <a:cs typeface="Arial MT"/>
              </a:rPr>
              <a:t>I/O 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5" dirty="0">
                <a:latin typeface="Arial MT"/>
                <a:cs typeface="Arial MT"/>
              </a:rPr>
              <a:t>vice  </a:t>
            </a:r>
            <a:r>
              <a:rPr sz="1100" dirty="0">
                <a:latin typeface="Arial MT"/>
                <a:cs typeface="Arial MT"/>
              </a:rPr>
              <a:t>#2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37894" y="2805168"/>
            <a:ext cx="4789805" cy="2268220"/>
            <a:chOff x="2337894" y="2805168"/>
            <a:chExt cx="4789805" cy="2268220"/>
          </a:xfrm>
        </p:grpSpPr>
        <p:sp>
          <p:nvSpPr>
            <p:cNvPr id="15" name="object 15"/>
            <p:cNvSpPr/>
            <p:nvPr/>
          </p:nvSpPr>
          <p:spPr>
            <a:xfrm>
              <a:off x="2343522" y="4503239"/>
              <a:ext cx="0" cy="564515"/>
            </a:xfrm>
            <a:custGeom>
              <a:avLst/>
              <a:gdLst/>
              <a:ahLst/>
              <a:cxnLst/>
              <a:rect l="l" t="t" r="r" b="b"/>
              <a:pathLst>
                <a:path h="564514">
                  <a:moveTo>
                    <a:pt x="0" y="0"/>
                  </a:moveTo>
                  <a:lnTo>
                    <a:pt x="0" y="564141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43522" y="5067380"/>
              <a:ext cx="4784090" cy="0"/>
            </a:xfrm>
            <a:custGeom>
              <a:avLst/>
              <a:gdLst/>
              <a:ahLst/>
              <a:cxnLst/>
              <a:rect l="l" t="t" r="r" b="b"/>
              <a:pathLst>
                <a:path w="4784090">
                  <a:moveTo>
                    <a:pt x="0" y="0"/>
                  </a:moveTo>
                  <a:lnTo>
                    <a:pt x="4783653" y="0"/>
                  </a:lnTo>
                </a:path>
              </a:pathLst>
            </a:custGeom>
            <a:ln w="112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31870" y="4503238"/>
              <a:ext cx="0" cy="564515"/>
            </a:xfrm>
            <a:custGeom>
              <a:avLst/>
              <a:gdLst/>
              <a:ahLst/>
              <a:cxnLst/>
              <a:rect l="l" t="t" r="r" b="b"/>
              <a:pathLst>
                <a:path h="564514">
                  <a:moveTo>
                    <a:pt x="0" y="0"/>
                  </a:moveTo>
                  <a:lnTo>
                    <a:pt x="0" y="564141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69417" y="4503237"/>
              <a:ext cx="0" cy="564515"/>
            </a:xfrm>
            <a:custGeom>
              <a:avLst/>
              <a:gdLst/>
              <a:ahLst/>
              <a:cxnLst/>
              <a:rect l="l" t="t" r="r" b="b"/>
              <a:pathLst>
                <a:path h="564514">
                  <a:moveTo>
                    <a:pt x="0" y="0"/>
                  </a:moveTo>
                  <a:lnTo>
                    <a:pt x="0" y="564141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77948" y="4503237"/>
              <a:ext cx="0" cy="551180"/>
            </a:xfrm>
            <a:custGeom>
              <a:avLst/>
              <a:gdLst/>
              <a:ahLst/>
              <a:cxnLst/>
              <a:rect l="l" t="t" r="r" b="b"/>
              <a:pathLst>
                <a:path h="551179">
                  <a:moveTo>
                    <a:pt x="0" y="0"/>
                  </a:moveTo>
                  <a:lnTo>
                    <a:pt x="0" y="550978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24913" y="2810811"/>
              <a:ext cx="4502785" cy="282575"/>
            </a:xfrm>
            <a:custGeom>
              <a:avLst/>
              <a:gdLst/>
              <a:ahLst/>
              <a:cxnLst/>
              <a:rect l="l" t="t" r="r" b="b"/>
              <a:pathLst>
                <a:path w="4502784" h="282575">
                  <a:moveTo>
                    <a:pt x="0" y="0"/>
                  </a:moveTo>
                  <a:lnTo>
                    <a:pt x="0" y="282070"/>
                  </a:lnTo>
                </a:path>
                <a:path w="4502784" h="282575">
                  <a:moveTo>
                    <a:pt x="0" y="0"/>
                  </a:moveTo>
                  <a:lnTo>
                    <a:pt x="4502261" y="0"/>
                  </a:lnTo>
                </a:path>
              </a:pathLst>
            </a:custGeom>
            <a:ln w="112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48903" y="2805169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0"/>
                  </a:moveTo>
                  <a:lnTo>
                    <a:pt x="0" y="287712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81972" y="2805169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0"/>
                  </a:moveTo>
                  <a:lnTo>
                    <a:pt x="0" y="287712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28022" y="2805168"/>
              <a:ext cx="0" cy="288290"/>
            </a:xfrm>
            <a:custGeom>
              <a:avLst/>
              <a:gdLst/>
              <a:ahLst/>
              <a:cxnLst/>
              <a:rect l="l" t="t" r="r" b="b"/>
              <a:pathLst>
                <a:path h="288289">
                  <a:moveTo>
                    <a:pt x="0" y="0"/>
                  </a:moveTo>
                  <a:lnTo>
                    <a:pt x="0" y="287712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06303" y="4785300"/>
              <a:ext cx="4187190" cy="0"/>
            </a:xfrm>
            <a:custGeom>
              <a:avLst/>
              <a:gdLst/>
              <a:ahLst/>
              <a:cxnLst/>
              <a:rect l="l" t="t" r="r" b="b"/>
              <a:pathLst>
                <a:path w="4187190">
                  <a:moveTo>
                    <a:pt x="0" y="0"/>
                  </a:moveTo>
                  <a:lnTo>
                    <a:pt x="4187098" y="0"/>
                  </a:lnTo>
                </a:path>
              </a:pathLst>
            </a:custGeom>
            <a:ln w="1128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06297" y="4503223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592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94645" y="4503223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592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50801" y="4503223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592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63084" y="4503222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592"/>
                  </a:lnTo>
                </a:path>
              </a:pathLst>
            </a:custGeom>
            <a:ln w="11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80643" y="2600646"/>
            <a:ext cx="50609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Arial MT"/>
                <a:cs typeface="Arial MT"/>
              </a:rPr>
              <a:t>data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15" dirty="0">
                <a:latin typeface="Arial MT"/>
                <a:cs typeface="Arial MT"/>
              </a:rPr>
              <a:t>bus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911925" y="4503242"/>
            <a:ext cx="1114425" cy="27686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12319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970"/>
              </a:spcBef>
            </a:pPr>
            <a:r>
              <a:rPr sz="1000" spc="-10" dirty="0">
                <a:latin typeface="Arial MT"/>
                <a:cs typeface="Arial MT"/>
              </a:rPr>
              <a:t>control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5" dirty="0">
                <a:latin typeface="Arial MT"/>
                <a:cs typeface="Arial MT"/>
              </a:rPr>
              <a:t>bus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09602" y="4896703"/>
            <a:ext cx="70866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Arial MT"/>
                <a:cs typeface="Arial MT"/>
              </a:rPr>
              <a:t>address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15" dirty="0">
                <a:latin typeface="Arial MT"/>
                <a:cs typeface="Arial MT"/>
              </a:rPr>
              <a:t>bus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915798" y="4145943"/>
          <a:ext cx="1496060" cy="210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612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ALU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CU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5" dirty="0">
                          <a:latin typeface="Arial MT"/>
                          <a:cs typeface="Arial MT"/>
                        </a:rPr>
                        <a:t>clock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8476" y="158495"/>
            <a:ext cx="1554479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9395" y="264668"/>
            <a:ext cx="104266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</a:t>
            </a:r>
            <a:r>
              <a:rPr spc="-5" dirty="0"/>
              <a:t>l</a:t>
            </a:r>
            <a:r>
              <a:rPr spc="-10" dirty="0"/>
              <a:t>o</a:t>
            </a:r>
            <a:r>
              <a:rPr spc="5" dirty="0"/>
              <a:t>c</a:t>
            </a:r>
            <a:r>
              <a:rPr dirty="0"/>
              <a:t>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095248"/>
            <a:ext cx="6839584" cy="17081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synchronizes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CPU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BUS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(clock)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cycle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measures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time of a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single </a:t>
            </a:r>
            <a:r>
              <a:rPr sz="2400" spc="-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operation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clock is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to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trigger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events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81200" y="3352800"/>
            <a:ext cx="5105400" cy="1409700"/>
            <a:chOff x="1981200" y="3352800"/>
            <a:chExt cx="5105400" cy="1409700"/>
          </a:xfrm>
        </p:grpSpPr>
        <p:sp>
          <p:nvSpPr>
            <p:cNvPr id="6" name="object 6"/>
            <p:cNvSpPr/>
            <p:nvPr/>
          </p:nvSpPr>
          <p:spPr>
            <a:xfrm>
              <a:off x="1981200" y="3352800"/>
              <a:ext cx="5105400" cy="1409700"/>
            </a:xfrm>
            <a:custGeom>
              <a:avLst/>
              <a:gdLst/>
              <a:ahLst/>
              <a:cxnLst/>
              <a:rect l="l" t="t" r="r" b="b"/>
              <a:pathLst>
                <a:path w="5105400" h="1409700">
                  <a:moveTo>
                    <a:pt x="51054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5105400" y="1409700"/>
                  </a:lnTo>
                  <a:lnTo>
                    <a:pt x="51054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71612" y="4540114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4">
                  <a:moveTo>
                    <a:pt x="0" y="0"/>
                  </a:moveTo>
                  <a:lnTo>
                    <a:pt x="563095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4708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0"/>
                  </a:moveTo>
                  <a:lnTo>
                    <a:pt x="0" y="565387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4708" y="3974727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>
                  <a:moveTo>
                    <a:pt x="563095" y="0"/>
                  </a:moveTo>
                  <a:lnTo>
                    <a:pt x="0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97803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565387"/>
                  </a:moveTo>
                  <a:lnTo>
                    <a:pt x="0" y="0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803" y="4540114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>
                  <a:moveTo>
                    <a:pt x="563095" y="0"/>
                  </a:moveTo>
                  <a:lnTo>
                    <a:pt x="0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0899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0"/>
                  </a:moveTo>
                  <a:lnTo>
                    <a:pt x="0" y="565387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60899" y="3974727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>
                  <a:moveTo>
                    <a:pt x="563095" y="0"/>
                  </a:moveTo>
                  <a:lnTo>
                    <a:pt x="0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23994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565387"/>
                  </a:moveTo>
                  <a:lnTo>
                    <a:pt x="0" y="0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23994" y="4540114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>
                  <a:moveTo>
                    <a:pt x="563095" y="0"/>
                  </a:moveTo>
                  <a:lnTo>
                    <a:pt x="0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87090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0"/>
                  </a:moveTo>
                  <a:lnTo>
                    <a:pt x="0" y="565387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87090" y="3974727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>
                  <a:moveTo>
                    <a:pt x="563095" y="0"/>
                  </a:moveTo>
                  <a:lnTo>
                    <a:pt x="0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50185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565387"/>
                  </a:moveTo>
                  <a:lnTo>
                    <a:pt x="0" y="0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50185" y="4540114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>
                  <a:moveTo>
                    <a:pt x="563095" y="0"/>
                  </a:moveTo>
                  <a:lnTo>
                    <a:pt x="0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13281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0"/>
                  </a:moveTo>
                  <a:lnTo>
                    <a:pt x="0" y="565387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13281" y="3974727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>
                  <a:moveTo>
                    <a:pt x="563095" y="0"/>
                  </a:moveTo>
                  <a:lnTo>
                    <a:pt x="0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76376" y="3974727"/>
              <a:ext cx="0" cy="565785"/>
            </a:xfrm>
            <a:custGeom>
              <a:avLst/>
              <a:gdLst/>
              <a:ahLst/>
              <a:cxnLst/>
              <a:rect l="l" t="t" r="r" b="b"/>
              <a:pathLst>
                <a:path h="565785">
                  <a:moveTo>
                    <a:pt x="0" y="565387"/>
                  </a:moveTo>
                  <a:lnTo>
                    <a:pt x="0" y="0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97803" y="3692033"/>
              <a:ext cx="1126490" cy="0"/>
            </a:xfrm>
            <a:custGeom>
              <a:avLst/>
              <a:gdLst/>
              <a:ahLst/>
              <a:cxnLst/>
              <a:rect l="l" t="t" r="r" b="b"/>
              <a:pathLst>
                <a:path w="1126489">
                  <a:moveTo>
                    <a:pt x="0" y="0"/>
                  </a:moveTo>
                  <a:lnTo>
                    <a:pt x="1126191" y="0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97803" y="369203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462"/>
                  </a:moveTo>
                  <a:lnTo>
                    <a:pt x="0" y="0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23994" y="3692033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139462"/>
                  </a:moveTo>
                  <a:lnTo>
                    <a:pt x="0" y="0"/>
                  </a:lnTo>
                </a:path>
              </a:pathLst>
            </a:custGeom>
            <a:ln w="7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81200" y="3352800"/>
            <a:ext cx="5105400" cy="1409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681480">
              <a:lnSpc>
                <a:spcPct val="100000"/>
              </a:lnSpc>
              <a:spcBef>
                <a:spcPts val="535"/>
              </a:spcBef>
            </a:pPr>
            <a:r>
              <a:rPr sz="1450" spc="15" dirty="0">
                <a:latin typeface="Arial MT"/>
                <a:cs typeface="Arial MT"/>
              </a:rPr>
              <a:t>one</a:t>
            </a:r>
            <a:r>
              <a:rPr sz="1450" spc="-2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cycle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Arial MT"/>
              <a:cs typeface="Arial MT"/>
            </a:endParaRPr>
          </a:p>
          <a:p>
            <a:pPr marL="179705">
              <a:lnSpc>
                <a:spcPct val="100000"/>
              </a:lnSpc>
            </a:pPr>
            <a:r>
              <a:rPr sz="1450" spc="15" dirty="0">
                <a:latin typeface="Arial MT"/>
                <a:cs typeface="Arial MT"/>
              </a:rPr>
              <a:t>1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Arial MT"/>
              <a:cs typeface="Arial MT"/>
            </a:endParaRPr>
          </a:p>
          <a:p>
            <a:pPr marL="198755">
              <a:lnSpc>
                <a:spcPct val="100000"/>
              </a:lnSpc>
            </a:pPr>
            <a:r>
              <a:rPr sz="1450" spc="15" dirty="0">
                <a:latin typeface="Arial MT"/>
                <a:cs typeface="Arial MT"/>
              </a:rPr>
              <a:t>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9355" y="158495"/>
            <a:ext cx="2714243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What's</a:t>
            </a:r>
            <a:r>
              <a:rPr spc="-95" dirty="0"/>
              <a:t> </a:t>
            </a:r>
            <a:r>
              <a:rPr dirty="0"/>
              <a:t>Next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758315" y="1557933"/>
            <a:ext cx="5627369" cy="202940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56590" indent="-342900">
              <a:lnSpc>
                <a:spcPct val="100000"/>
              </a:lnSpc>
              <a:spcBef>
                <a:spcPts val="6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General</a:t>
            </a:r>
            <a:r>
              <a:rPr spc="-15" dirty="0"/>
              <a:t> </a:t>
            </a:r>
            <a:r>
              <a:rPr spc="-5" dirty="0"/>
              <a:t>Concepts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lr>
                <a:srgbClr val="FFFFFF"/>
              </a:buClr>
              <a:buFont typeface="Arial MT"/>
              <a:buChar char="•"/>
              <a:tabLst>
                <a:tab pos="656590" algn="l"/>
                <a:tab pos="657225" algn="l"/>
              </a:tabLst>
            </a:pPr>
            <a:r>
              <a:rPr b="1" spc="-5" dirty="0">
                <a:solidFill>
                  <a:srgbClr val="FFCC66"/>
                </a:solidFill>
                <a:latin typeface="Arial"/>
                <a:cs typeface="Arial"/>
              </a:rPr>
              <a:t>IA-32</a:t>
            </a:r>
            <a:r>
              <a:rPr b="1" spc="-10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CC66"/>
                </a:solidFill>
                <a:latin typeface="Arial"/>
                <a:cs typeface="Arial"/>
              </a:rPr>
              <a:t>Processor Architecture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-15" dirty="0"/>
              <a:t> </a:t>
            </a:r>
            <a:r>
              <a:rPr spc="-5" dirty="0"/>
              <a:t>Memory</a:t>
            </a:r>
            <a:r>
              <a:rPr spc="10" dirty="0"/>
              <a:t> </a:t>
            </a:r>
            <a:r>
              <a:rPr spc="-5" dirty="0"/>
              <a:t>Management</a:t>
            </a:r>
          </a:p>
          <a:p>
            <a:pPr marL="656590" indent="-342900">
              <a:lnSpc>
                <a:spcPct val="100000"/>
              </a:lnSpc>
              <a:spcBef>
                <a:spcPts val="5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64-Bit</a:t>
            </a:r>
            <a:r>
              <a:rPr spc="-20" dirty="0"/>
              <a:t> </a:t>
            </a:r>
            <a:r>
              <a:rPr spc="-5" dirty="0"/>
              <a:t>Processors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Components</a:t>
            </a:r>
            <a:r>
              <a:rPr spc="25" dirty="0"/>
              <a:t> </a:t>
            </a:r>
            <a:r>
              <a:rPr spc="-5" dirty="0"/>
              <a:t>of an IA-32</a:t>
            </a:r>
            <a:r>
              <a:rPr spc="5" dirty="0"/>
              <a:t> </a:t>
            </a:r>
            <a:r>
              <a:rPr spc="-5" dirty="0"/>
              <a:t>Microcomputer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68423" y="158495"/>
            <a:ext cx="5434965" cy="902335"/>
            <a:chOff x="1868423" y="158495"/>
            <a:chExt cx="5434965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8423" y="158495"/>
              <a:ext cx="5434571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8423" y="158495"/>
              <a:ext cx="5434571" cy="90220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7340" y="2098649"/>
            <a:ext cx="2136140" cy="1701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Fetch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Decode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Fetch</a:t>
            </a:r>
            <a:r>
              <a:rPr sz="20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operands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Execute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Store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output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09342" y="264668"/>
            <a:ext cx="49237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Instruction</a:t>
            </a:r>
            <a:r>
              <a:rPr spc="-50" dirty="0"/>
              <a:t> </a:t>
            </a:r>
            <a:r>
              <a:rPr spc="-5" dirty="0"/>
              <a:t>Execution</a:t>
            </a:r>
            <a:r>
              <a:rPr spc="-35" dirty="0"/>
              <a:t> </a:t>
            </a:r>
            <a:r>
              <a:rPr dirty="0"/>
              <a:t>Cycle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1066800"/>
            <a:ext cx="6172200" cy="4826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0383" y="158495"/>
            <a:ext cx="4552186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1302" y="264668"/>
            <a:ext cx="40386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Reading</a:t>
            </a:r>
            <a:r>
              <a:rPr spc="-55" dirty="0"/>
              <a:t> </a:t>
            </a:r>
            <a:r>
              <a:rPr spc="-5" dirty="0"/>
              <a:t>from</a:t>
            </a:r>
            <a:r>
              <a:rPr spc="-65" dirty="0"/>
              <a:t> </a:t>
            </a:r>
            <a:r>
              <a:rPr spc="-5" dirty="0"/>
              <a:t>Memory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134872"/>
            <a:ext cx="7586980" cy="33445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492125">
              <a:lnSpc>
                <a:spcPts val="2380"/>
              </a:lnSpc>
              <a:spcBef>
                <a:spcPts val="390"/>
              </a:spcBef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cycles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required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reading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from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memory,</a:t>
            </a:r>
            <a:r>
              <a:rPr sz="22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because it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responds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much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22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slowly than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22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CPU.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steps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are:</a:t>
            </a:r>
            <a:endParaRPr sz="2200">
              <a:latin typeface="Arial MT"/>
              <a:cs typeface="Arial MT"/>
            </a:endParaRPr>
          </a:p>
          <a:p>
            <a:pPr marL="812800" marR="5080" indent="-342900">
              <a:lnSpc>
                <a:spcPts val="2380"/>
              </a:lnSpc>
              <a:spcBef>
                <a:spcPts val="515"/>
              </a:spcBef>
              <a:buAutoNum type="arabicPeriod"/>
              <a:tabLst>
                <a:tab pos="8128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Place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address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read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22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address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bus.</a:t>
            </a:r>
            <a:endParaRPr sz="2200">
              <a:latin typeface="Arial MT"/>
              <a:cs typeface="Arial MT"/>
            </a:endParaRPr>
          </a:p>
          <a:p>
            <a:pPr marL="812800" marR="596900" indent="-342900">
              <a:lnSpc>
                <a:spcPts val="2380"/>
              </a:lnSpc>
              <a:spcBef>
                <a:spcPts val="520"/>
              </a:spcBef>
              <a:buAutoNum type="arabicPeriod"/>
              <a:tabLst>
                <a:tab pos="8128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Assert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(changing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of)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processor’s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RD </a:t>
            </a:r>
            <a:r>
              <a:rPr sz="22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(read)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pin.</a:t>
            </a:r>
            <a:endParaRPr sz="2200">
              <a:latin typeface="Arial MT"/>
              <a:cs typeface="Arial MT"/>
            </a:endParaRPr>
          </a:p>
          <a:p>
            <a:pPr marL="812800" indent="-34290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8128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Wait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clock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cycle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22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chips to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respond.</a:t>
            </a:r>
            <a:endParaRPr sz="2200">
              <a:latin typeface="Arial MT"/>
              <a:cs typeface="Arial MT"/>
            </a:endParaRPr>
          </a:p>
          <a:p>
            <a:pPr marL="812800" marR="344170" indent="-342900">
              <a:lnSpc>
                <a:spcPts val="2380"/>
              </a:lnSpc>
              <a:spcBef>
                <a:spcPts val="560"/>
              </a:spcBef>
              <a:buAutoNum type="arabicPeriod"/>
              <a:tabLst>
                <a:tab pos="8128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Copy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bus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destination </a:t>
            </a:r>
            <a:r>
              <a:rPr sz="2200" spc="-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operand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1319" y="158495"/>
            <a:ext cx="3290315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2270" y="264668"/>
            <a:ext cx="27774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Cache</a:t>
            </a:r>
            <a:r>
              <a:rPr spc="-105" dirty="0"/>
              <a:t> </a:t>
            </a:r>
            <a:r>
              <a:rPr spc="-5" dirty="0"/>
              <a:t>Memory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764540" y="1473200"/>
            <a:ext cx="7301230" cy="317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764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High-speed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expensive</a:t>
            </a:r>
            <a:r>
              <a:rPr sz="24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static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RAM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both inside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400" spc="-6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outside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CPU.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Level-1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cache: inside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the CPU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Level-2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cache: outside the CPU</a:t>
            </a:r>
            <a:endParaRPr sz="22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Cache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hit: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4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be read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already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cache </a:t>
            </a:r>
            <a:r>
              <a:rPr sz="2400" spc="-6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  <a:p>
            <a:pPr marL="355600" marR="2794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Cache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miss: when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read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not in cache </a:t>
            </a:r>
            <a:r>
              <a:rPr sz="2400" spc="-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9" y="158495"/>
            <a:ext cx="4418074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8358" y="264668"/>
            <a:ext cx="39046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</a:t>
            </a:r>
            <a:r>
              <a:rPr spc="-3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5" dirty="0"/>
              <a:t>Program</a:t>
            </a:r>
            <a:r>
              <a:rPr spc="-45" dirty="0"/>
              <a:t> </a:t>
            </a:r>
            <a:r>
              <a:rPr spc="-10" dirty="0"/>
              <a:t>Runs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28800" y="1143000"/>
            <a:ext cx="5410200" cy="4419600"/>
            <a:chOff x="1828800" y="1143000"/>
            <a:chExt cx="5410200" cy="4419600"/>
          </a:xfrm>
        </p:grpSpPr>
        <p:sp>
          <p:nvSpPr>
            <p:cNvPr id="5" name="object 5"/>
            <p:cNvSpPr/>
            <p:nvPr/>
          </p:nvSpPr>
          <p:spPr>
            <a:xfrm>
              <a:off x="1828800" y="1143000"/>
              <a:ext cx="5410200" cy="4419600"/>
            </a:xfrm>
            <a:custGeom>
              <a:avLst/>
              <a:gdLst/>
              <a:ahLst/>
              <a:cxnLst/>
              <a:rect l="l" t="t" r="r" b="b"/>
              <a:pathLst>
                <a:path w="5410200" h="4419600">
                  <a:moveTo>
                    <a:pt x="5410200" y="0"/>
                  </a:moveTo>
                  <a:lnTo>
                    <a:pt x="0" y="0"/>
                  </a:lnTo>
                  <a:lnTo>
                    <a:pt x="0" y="4419600"/>
                  </a:lnTo>
                  <a:lnTo>
                    <a:pt x="5410200" y="4419600"/>
                  </a:lnTo>
                  <a:lnTo>
                    <a:pt x="541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77138" y="2853258"/>
              <a:ext cx="1053465" cy="717550"/>
            </a:xfrm>
            <a:custGeom>
              <a:avLst/>
              <a:gdLst/>
              <a:ahLst/>
              <a:cxnLst/>
              <a:rect l="l" t="t" r="r" b="b"/>
              <a:pathLst>
                <a:path w="1053464" h="717550">
                  <a:moveTo>
                    <a:pt x="857126" y="717538"/>
                  </a:moveTo>
                  <a:lnTo>
                    <a:pt x="195991" y="717538"/>
                  </a:lnTo>
                  <a:lnTo>
                    <a:pt x="151567" y="712301"/>
                  </a:lnTo>
                  <a:lnTo>
                    <a:pt x="109756" y="699207"/>
                  </a:lnTo>
                  <a:lnTo>
                    <a:pt x="73169" y="675638"/>
                  </a:lnTo>
                  <a:lnTo>
                    <a:pt x="41813" y="644213"/>
                  </a:lnTo>
                  <a:lnTo>
                    <a:pt x="18294" y="607551"/>
                  </a:lnTo>
                  <a:lnTo>
                    <a:pt x="5228" y="565651"/>
                  </a:lnTo>
                  <a:lnTo>
                    <a:pt x="0" y="521132"/>
                  </a:lnTo>
                  <a:lnTo>
                    <a:pt x="0" y="196406"/>
                  </a:lnTo>
                  <a:lnTo>
                    <a:pt x="5228" y="151887"/>
                  </a:lnTo>
                  <a:lnTo>
                    <a:pt x="18294" y="109987"/>
                  </a:lnTo>
                  <a:lnTo>
                    <a:pt x="41813" y="73325"/>
                  </a:lnTo>
                  <a:lnTo>
                    <a:pt x="73169" y="41900"/>
                  </a:lnTo>
                  <a:lnTo>
                    <a:pt x="109756" y="18331"/>
                  </a:lnTo>
                  <a:lnTo>
                    <a:pt x="151567" y="5237"/>
                  </a:lnTo>
                  <a:lnTo>
                    <a:pt x="195991" y="0"/>
                  </a:lnTo>
                  <a:lnTo>
                    <a:pt x="857126" y="0"/>
                  </a:lnTo>
                  <a:lnTo>
                    <a:pt x="901551" y="5237"/>
                  </a:lnTo>
                  <a:lnTo>
                    <a:pt x="943359" y="18331"/>
                  </a:lnTo>
                  <a:lnTo>
                    <a:pt x="979946" y="41900"/>
                  </a:lnTo>
                  <a:lnTo>
                    <a:pt x="1011302" y="73325"/>
                  </a:lnTo>
                  <a:lnTo>
                    <a:pt x="1034820" y="109987"/>
                  </a:lnTo>
                  <a:lnTo>
                    <a:pt x="1047889" y="151887"/>
                  </a:lnTo>
                  <a:lnTo>
                    <a:pt x="1053115" y="196406"/>
                  </a:lnTo>
                  <a:lnTo>
                    <a:pt x="1053115" y="521132"/>
                  </a:lnTo>
                  <a:lnTo>
                    <a:pt x="1047889" y="565651"/>
                  </a:lnTo>
                  <a:lnTo>
                    <a:pt x="1034820" y="607551"/>
                  </a:lnTo>
                  <a:lnTo>
                    <a:pt x="1011302" y="644213"/>
                  </a:lnTo>
                  <a:lnTo>
                    <a:pt x="979946" y="675638"/>
                  </a:lnTo>
                  <a:lnTo>
                    <a:pt x="943359" y="699207"/>
                  </a:lnTo>
                  <a:lnTo>
                    <a:pt x="901551" y="712301"/>
                  </a:lnTo>
                  <a:lnTo>
                    <a:pt x="857126" y="717538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77140" y="2853259"/>
              <a:ext cx="1053465" cy="717550"/>
            </a:xfrm>
            <a:custGeom>
              <a:avLst/>
              <a:gdLst/>
              <a:ahLst/>
              <a:cxnLst/>
              <a:rect l="l" t="t" r="r" b="b"/>
              <a:pathLst>
                <a:path w="1053464" h="717550">
                  <a:moveTo>
                    <a:pt x="857124" y="717538"/>
                  </a:moveTo>
                  <a:lnTo>
                    <a:pt x="901548" y="712301"/>
                  </a:lnTo>
                  <a:lnTo>
                    <a:pt x="943359" y="699207"/>
                  </a:lnTo>
                  <a:lnTo>
                    <a:pt x="979943" y="675638"/>
                  </a:lnTo>
                  <a:lnTo>
                    <a:pt x="1011302" y="644213"/>
                  </a:lnTo>
                  <a:lnTo>
                    <a:pt x="1034820" y="607551"/>
                  </a:lnTo>
                  <a:lnTo>
                    <a:pt x="1047886" y="565651"/>
                  </a:lnTo>
                  <a:lnTo>
                    <a:pt x="1053113" y="521132"/>
                  </a:lnTo>
                  <a:lnTo>
                    <a:pt x="1053113" y="196406"/>
                  </a:lnTo>
                  <a:lnTo>
                    <a:pt x="1047886" y="151887"/>
                  </a:lnTo>
                  <a:lnTo>
                    <a:pt x="1034820" y="109987"/>
                  </a:lnTo>
                  <a:lnTo>
                    <a:pt x="1011302" y="73325"/>
                  </a:lnTo>
                  <a:lnTo>
                    <a:pt x="979943" y="41900"/>
                  </a:lnTo>
                  <a:lnTo>
                    <a:pt x="943359" y="18331"/>
                  </a:lnTo>
                  <a:lnTo>
                    <a:pt x="901548" y="5237"/>
                  </a:lnTo>
                  <a:lnTo>
                    <a:pt x="857124" y="0"/>
                  </a:lnTo>
                  <a:lnTo>
                    <a:pt x="195988" y="0"/>
                  </a:lnTo>
                  <a:lnTo>
                    <a:pt x="151564" y="5237"/>
                  </a:lnTo>
                  <a:lnTo>
                    <a:pt x="109753" y="18331"/>
                  </a:lnTo>
                  <a:lnTo>
                    <a:pt x="73169" y="41900"/>
                  </a:lnTo>
                  <a:lnTo>
                    <a:pt x="41810" y="73325"/>
                  </a:lnTo>
                  <a:lnTo>
                    <a:pt x="18292" y="109987"/>
                  </a:lnTo>
                  <a:lnTo>
                    <a:pt x="5226" y="151887"/>
                  </a:lnTo>
                  <a:lnTo>
                    <a:pt x="0" y="196406"/>
                  </a:lnTo>
                  <a:lnTo>
                    <a:pt x="0" y="521132"/>
                  </a:lnTo>
                  <a:lnTo>
                    <a:pt x="5226" y="565651"/>
                  </a:lnTo>
                  <a:lnTo>
                    <a:pt x="18292" y="607551"/>
                  </a:lnTo>
                  <a:lnTo>
                    <a:pt x="41810" y="644213"/>
                  </a:lnTo>
                  <a:lnTo>
                    <a:pt x="73169" y="675638"/>
                  </a:lnTo>
                  <a:lnTo>
                    <a:pt x="109753" y="699207"/>
                  </a:lnTo>
                  <a:lnTo>
                    <a:pt x="151564" y="712301"/>
                  </a:lnTo>
                  <a:lnTo>
                    <a:pt x="195988" y="717538"/>
                  </a:lnTo>
                  <a:lnTo>
                    <a:pt x="857124" y="717538"/>
                  </a:lnTo>
                  <a:close/>
                </a:path>
              </a:pathLst>
            </a:custGeom>
            <a:ln w="5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13724" y="1247961"/>
              <a:ext cx="980440" cy="393065"/>
            </a:xfrm>
            <a:custGeom>
              <a:avLst/>
              <a:gdLst/>
              <a:ahLst/>
              <a:cxnLst/>
              <a:rect l="l" t="t" r="r" b="b"/>
              <a:pathLst>
                <a:path w="980439" h="393064">
                  <a:moveTo>
                    <a:pt x="783955" y="392813"/>
                  </a:moveTo>
                  <a:lnTo>
                    <a:pt x="195988" y="392813"/>
                  </a:lnTo>
                  <a:lnTo>
                    <a:pt x="151564" y="387575"/>
                  </a:lnTo>
                  <a:lnTo>
                    <a:pt x="109756" y="371863"/>
                  </a:lnTo>
                  <a:lnTo>
                    <a:pt x="73169" y="348294"/>
                  </a:lnTo>
                  <a:lnTo>
                    <a:pt x="41810" y="319488"/>
                  </a:lnTo>
                  <a:lnTo>
                    <a:pt x="18292" y="280206"/>
                  </a:lnTo>
                  <a:lnTo>
                    <a:pt x="5226" y="238306"/>
                  </a:lnTo>
                  <a:lnTo>
                    <a:pt x="0" y="196406"/>
                  </a:lnTo>
                  <a:lnTo>
                    <a:pt x="5226" y="151887"/>
                  </a:lnTo>
                  <a:lnTo>
                    <a:pt x="18292" y="109987"/>
                  </a:lnTo>
                  <a:lnTo>
                    <a:pt x="41810" y="73325"/>
                  </a:lnTo>
                  <a:lnTo>
                    <a:pt x="73169" y="41900"/>
                  </a:lnTo>
                  <a:lnTo>
                    <a:pt x="109756" y="18331"/>
                  </a:lnTo>
                  <a:lnTo>
                    <a:pt x="151564" y="5237"/>
                  </a:lnTo>
                  <a:lnTo>
                    <a:pt x="195988" y="0"/>
                  </a:lnTo>
                  <a:lnTo>
                    <a:pt x="783955" y="0"/>
                  </a:lnTo>
                  <a:lnTo>
                    <a:pt x="828379" y="5237"/>
                  </a:lnTo>
                  <a:lnTo>
                    <a:pt x="870190" y="18331"/>
                  </a:lnTo>
                  <a:lnTo>
                    <a:pt x="906774" y="41900"/>
                  </a:lnTo>
                  <a:lnTo>
                    <a:pt x="938132" y="73325"/>
                  </a:lnTo>
                  <a:lnTo>
                    <a:pt x="961651" y="109987"/>
                  </a:lnTo>
                  <a:lnTo>
                    <a:pt x="974717" y="151887"/>
                  </a:lnTo>
                  <a:lnTo>
                    <a:pt x="979946" y="196406"/>
                  </a:lnTo>
                  <a:lnTo>
                    <a:pt x="974717" y="238306"/>
                  </a:lnTo>
                  <a:lnTo>
                    <a:pt x="961651" y="280206"/>
                  </a:lnTo>
                  <a:lnTo>
                    <a:pt x="938132" y="319488"/>
                  </a:lnTo>
                  <a:lnTo>
                    <a:pt x="906774" y="348294"/>
                  </a:lnTo>
                  <a:lnTo>
                    <a:pt x="870190" y="371863"/>
                  </a:lnTo>
                  <a:lnTo>
                    <a:pt x="828379" y="387575"/>
                  </a:lnTo>
                  <a:lnTo>
                    <a:pt x="783955" y="392813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13724" y="1247962"/>
              <a:ext cx="980440" cy="393065"/>
            </a:xfrm>
            <a:custGeom>
              <a:avLst/>
              <a:gdLst/>
              <a:ahLst/>
              <a:cxnLst/>
              <a:rect l="l" t="t" r="r" b="b"/>
              <a:pathLst>
                <a:path w="980439" h="393064">
                  <a:moveTo>
                    <a:pt x="783955" y="392813"/>
                  </a:moveTo>
                  <a:lnTo>
                    <a:pt x="828379" y="387575"/>
                  </a:lnTo>
                  <a:lnTo>
                    <a:pt x="870190" y="371863"/>
                  </a:lnTo>
                  <a:lnTo>
                    <a:pt x="906774" y="348294"/>
                  </a:lnTo>
                  <a:lnTo>
                    <a:pt x="938132" y="319488"/>
                  </a:lnTo>
                  <a:lnTo>
                    <a:pt x="961651" y="280206"/>
                  </a:lnTo>
                  <a:lnTo>
                    <a:pt x="974717" y="238306"/>
                  </a:lnTo>
                  <a:lnTo>
                    <a:pt x="979943" y="196406"/>
                  </a:lnTo>
                  <a:lnTo>
                    <a:pt x="974717" y="151887"/>
                  </a:lnTo>
                  <a:lnTo>
                    <a:pt x="961651" y="109987"/>
                  </a:lnTo>
                  <a:lnTo>
                    <a:pt x="938132" y="73325"/>
                  </a:lnTo>
                  <a:lnTo>
                    <a:pt x="906774" y="41900"/>
                  </a:lnTo>
                  <a:lnTo>
                    <a:pt x="870190" y="18331"/>
                  </a:lnTo>
                  <a:lnTo>
                    <a:pt x="828379" y="5237"/>
                  </a:lnTo>
                  <a:lnTo>
                    <a:pt x="783955" y="0"/>
                  </a:lnTo>
                  <a:lnTo>
                    <a:pt x="195988" y="0"/>
                  </a:lnTo>
                  <a:lnTo>
                    <a:pt x="151564" y="5237"/>
                  </a:lnTo>
                  <a:lnTo>
                    <a:pt x="109753" y="18331"/>
                  </a:lnTo>
                  <a:lnTo>
                    <a:pt x="73169" y="41900"/>
                  </a:lnTo>
                  <a:lnTo>
                    <a:pt x="41810" y="73325"/>
                  </a:lnTo>
                  <a:lnTo>
                    <a:pt x="18292" y="109987"/>
                  </a:lnTo>
                  <a:lnTo>
                    <a:pt x="5226" y="151887"/>
                  </a:lnTo>
                  <a:lnTo>
                    <a:pt x="0" y="196406"/>
                  </a:lnTo>
                  <a:lnTo>
                    <a:pt x="5226" y="238306"/>
                  </a:lnTo>
                  <a:lnTo>
                    <a:pt x="18292" y="280206"/>
                  </a:lnTo>
                  <a:lnTo>
                    <a:pt x="41810" y="319488"/>
                  </a:lnTo>
                  <a:lnTo>
                    <a:pt x="73169" y="348294"/>
                  </a:lnTo>
                  <a:lnTo>
                    <a:pt x="109753" y="371863"/>
                  </a:lnTo>
                  <a:lnTo>
                    <a:pt x="151564" y="387575"/>
                  </a:lnTo>
                  <a:lnTo>
                    <a:pt x="195988" y="392813"/>
                  </a:lnTo>
                  <a:lnTo>
                    <a:pt x="783955" y="392813"/>
                  </a:lnTo>
                  <a:close/>
                </a:path>
              </a:pathLst>
            </a:custGeom>
            <a:ln w="52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2506" y="2819213"/>
              <a:ext cx="1126490" cy="786130"/>
            </a:xfrm>
            <a:custGeom>
              <a:avLst/>
              <a:gdLst/>
              <a:ahLst/>
              <a:cxnLst/>
              <a:rect l="l" t="t" r="r" b="b"/>
              <a:pathLst>
                <a:path w="1126490" h="786129">
                  <a:moveTo>
                    <a:pt x="930296" y="785626"/>
                  </a:moveTo>
                  <a:lnTo>
                    <a:pt x="195988" y="785626"/>
                  </a:lnTo>
                  <a:lnTo>
                    <a:pt x="151564" y="780389"/>
                  </a:lnTo>
                  <a:lnTo>
                    <a:pt x="109756" y="767297"/>
                  </a:lnTo>
                  <a:lnTo>
                    <a:pt x="73169" y="743729"/>
                  </a:lnTo>
                  <a:lnTo>
                    <a:pt x="41810" y="712301"/>
                  </a:lnTo>
                  <a:lnTo>
                    <a:pt x="18292" y="675641"/>
                  </a:lnTo>
                  <a:lnTo>
                    <a:pt x="5226" y="633738"/>
                  </a:lnTo>
                  <a:lnTo>
                    <a:pt x="0" y="589219"/>
                  </a:lnTo>
                  <a:lnTo>
                    <a:pt x="0" y="196406"/>
                  </a:lnTo>
                  <a:lnTo>
                    <a:pt x="5226" y="151890"/>
                  </a:lnTo>
                  <a:lnTo>
                    <a:pt x="18292" y="109990"/>
                  </a:lnTo>
                  <a:lnTo>
                    <a:pt x="41810" y="73325"/>
                  </a:lnTo>
                  <a:lnTo>
                    <a:pt x="73169" y="41900"/>
                  </a:lnTo>
                  <a:lnTo>
                    <a:pt x="109756" y="18331"/>
                  </a:lnTo>
                  <a:lnTo>
                    <a:pt x="151564" y="5237"/>
                  </a:lnTo>
                  <a:lnTo>
                    <a:pt x="195988" y="0"/>
                  </a:lnTo>
                  <a:lnTo>
                    <a:pt x="930296" y="0"/>
                  </a:lnTo>
                  <a:lnTo>
                    <a:pt x="974717" y="5237"/>
                  </a:lnTo>
                  <a:lnTo>
                    <a:pt x="1016528" y="18331"/>
                  </a:lnTo>
                  <a:lnTo>
                    <a:pt x="1053113" y="41900"/>
                  </a:lnTo>
                  <a:lnTo>
                    <a:pt x="1084471" y="73325"/>
                  </a:lnTo>
                  <a:lnTo>
                    <a:pt x="1107989" y="109990"/>
                  </a:lnTo>
                  <a:lnTo>
                    <a:pt x="1121058" y="151890"/>
                  </a:lnTo>
                  <a:lnTo>
                    <a:pt x="1126282" y="196406"/>
                  </a:lnTo>
                  <a:lnTo>
                    <a:pt x="1126282" y="589219"/>
                  </a:lnTo>
                  <a:lnTo>
                    <a:pt x="1121058" y="633738"/>
                  </a:lnTo>
                  <a:lnTo>
                    <a:pt x="1107989" y="675641"/>
                  </a:lnTo>
                  <a:lnTo>
                    <a:pt x="1084471" y="712301"/>
                  </a:lnTo>
                  <a:lnTo>
                    <a:pt x="1053113" y="743729"/>
                  </a:lnTo>
                  <a:lnTo>
                    <a:pt x="1016528" y="767297"/>
                  </a:lnTo>
                  <a:lnTo>
                    <a:pt x="974717" y="780389"/>
                  </a:lnTo>
                  <a:lnTo>
                    <a:pt x="930296" y="785626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2507" y="2819215"/>
              <a:ext cx="1126490" cy="786130"/>
            </a:xfrm>
            <a:custGeom>
              <a:avLst/>
              <a:gdLst/>
              <a:ahLst/>
              <a:cxnLst/>
              <a:rect l="l" t="t" r="r" b="b"/>
              <a:pathLst>
                <a:path w="1126490" h="786129">
                  <a:moveTo>
                    <a:pt x="930293" y="785626"/>
                  </a:moveTo>
                  <a:lnTo>
                    <a:pt x="974717" y="780389"/>
                  </a:lnTo>
                  <a:lnTo>
                    <a:pt x="1016528" y="767295"/>
                  </a:lnTo>
                  <a:lnTo>
                    <a:pt x="1053113" y="743726"/>
                  </a:lnTo>
                  <a:lnTo>
                    <a:pt x="1084471" y="712301"/>
                  </a:lnTo>
                  <a:lnTo>
                    <a:pt x="1107989" y="675638"/>
                  </a:lnTo>
                  <a:lnTo>
                    <a:pt x="1121055" y="633738"/>
                  </a:lnTo>
                  <a:lnTo>
                    <a:pt x="1126282" y="589219"/>
                  </a:lnTo>
                  <a:lnTo>
                    <a:pt x="1126282" y="196406"/>
                  </a:lnTo>
                  <a:lnTo>
                    <a:pt x="1121055" y="151887"/>
                  </a:lnTo>
                  <a:lnTo>
                    <a:pt x="1107989" y="109987"/>
                  </a:lnTo>
                  <a:lnTo>
                    <a:pt x="1084471" y="73325"/>
                  </a:lnTo>
                  <a:lnTo>
                    <a:pt x="1053113" y="41900"/>
                  </a:lnTo>
                  <a:lnTo>
                    <a:pt x="1016528" y="18331"/>
                  </a:lnTo>
                  <a:lnTo>
                    <a:pt x="974717" y="5237"/>
                  </a:lnTo>
                  <a:lnTo>
                    <a:pt x="930293" y="0"/>
                  </a:lnTo>
                  <a:lnTo>
                    <a:pt x="195988" y="0"/>
                  </a:lnTo>
                  <a:lnTo>
                    <a:pt x="151564" y="5237"/>
                  </a:lnTo>
                  <a:lnTo>
                    <a:pt x="109753" y="18331"/>
                  </a:lnTo>
                  <a:lnTo>
                    <a:pt x="73169" y="41900"/>
                  </a:lnTo>
                  <a:lnTo>
                    <a:pt x="41810" y="73325"/>
                  </a:lnTo>
                  <a:lnTo>
                    <a:pt x="18292" y="109987"/>
                  </a:lnTo>
                  <a:lnTo>
                    <a:pt x="5226" y="151887"/>
                  </a:lnTo>
                  <a:lnTo>
                    <a:pt x="0" y="196406"/>
                  </a:lnTo>
                  <a:lnTo>
                    <a:pt x="0" y="589219"/>
                  </a:lnTo>
                  <a:lnTo>
                    <a:pt x="5226" y="633738"/>
                  </a:lnTo>
                  <a:lnTo>
                    <a:pt x="18292" y="675638"/>
                  </a:lnTo>
                  <a:lnTo>
                    <a:pt x="41810" y="712301"/>
                  </a:lnTo>
                  <a:lnTo>
                    <a:pt x="73169" y="743726"/>
                  </a:lnTo>
                  <a:lnTo>
                    <a:pt x="109753" y="767295"/>
                  </a:lnTo>
                  <a:lnTo>
                    <a:pt x="151564" y="780389"/>
                  </a:lnTo>
                  <a:lnTo>
                    <a:pt x="195988" y="785626"/>
                  </a:lnTo>
                  <a:lnTo>
                    <a:pt x="930293" y="785626"/>
                  </a:lnTo>
                  <a:close/>
                </a:path>
              </a:pathLst>
            </a:custGeom>
            <a:ln w="5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29807" y="2971495"/>
            <a:ext cx="68326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4450">
              <a:lnSpc>
                <a:spcPct val="1018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Current </a:t>
            </a:r>
            <a:r>
              <a:rPr sz="1350" spc="-365" dirty="0">
                <a:latin typeface="Arial MT"/>
                <a:cs typeface="Arial MT"/>
              </a:rPr>
              <a:t> </a:t>
            </a:r>
            <a:r>
              <a:rPr sz="1350" spc="5" dirty="0">
                <a:latin typeface="Arial MT"/>
                <a:cs typeface="Arial MT"/>
              </a:rPr>
              <a:t>di</a:t>
            </a:r>
            <a:r>
              <a:rPr sz="1350" spc="-5" dirty="0">
                <a:latin typeface="Arial MT"/>
                <a:cs typeface="Arial MT"/>
              </a:rPr>
              <a:t>r</a:t>
            </a:r>
            <a:r>
              <a:rPr sz="1350" spc="5" dirty="0">
                <a:latin typeface="Arial MT"/>
                <a:cs typeface="Arial MT"/>
              </a:rPr>
              <a:t>e</a:t>
            </a:r>
            <a:r>
              <a:rPr sz="1350" spc="15" dirty="0">
                <a:latin typeface="Arial MT"/>
                <a:cs typeface="Arial MT"/>
              </a:rPr>
              <a:t>c</a:t>
            </a:r>
            <a:r>
              <a:rPr sz="1350" spc="10" dirty="0">
                <a:latin typeface="Arial MT"/>
                <a:cs typeface="Arial MT"/>
              </a:rPr>
              <a:t>t</a:t>
            </a:r>
            <a:r>
              <a:rPr sz="1350" dirty="0">
                <a:latin typeface="Arial MT"/>
                <a:cs typeface="Arial MT"/>
              </a:rPr>
              <a:t>or</a:t>
            </a:r>
            <a:r>
              <a:rPr sz="1350" spc="10" dirty="0">
                <a:latin typeface="Arial MT"/>
                <a:cs typeface="Arial MT"/>
              </a:rPr>
              <a:t>y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99648" y="3994796"/>
            <a:ext cx="1132205" cy="791845"/>
            <a:chOff x="5999648" y="3994796"/>
            <a:chExt cx="1132205" cy="791845"/>
          </a:xfrm>
        </p:grpSpPr>
        <p:sp>
          <p:nvSpPr>
            <p:cNvPr id="14" name="object 14"/>
            <p:cNvSpPr/>
            <p:nvPr/>
          </p:nvSpPr>
          <p:spPr>
            <a:xfrm>
              <a:off x="6002505" y="3997653"/>
              <a:ext cx="1126490" cy="786130"/>
            </a:xfrm>
            <a:custGeom>
              <a:avLst/>
              <a:gdLst/>
              <a:ahLst/>
              <a:cxnLst/>
              <a:rect l="l" t="t" r="r" b="b"/>
              <a:pathLst>
                <a:path w="1126490" h="786129">
                  <a:moveTo>
                    <a:pt x="930296" y="785626"/>
                  </a:moveTo>
                  <a:lnTo>
                    <a:pt x="195988" y="785626"/>
                  </a:lnTo>
                  <a:lnTo>
                    <a:pt x="151564" y="780389"/>
                  </a:lnTo>
                  <a:lnTo>
                    <a:pt x="109756" y="767297"/>
                  </a:lnTo>
                  <a:lnTo>
                    <a:pt x="73169" y="743729"/>
                  </a:lnTo>
                  <a:lnTo>
                    <a:pt x="41810" y="712301"/>
                  </a:lnTo>
                  <a:lnTo>
                    <a:pt x="18292" y="675641"/>
                  </a:lnTo>
                  <a:lnTo>
                    <a:pt x="5226" y="633738"/>
                  </a:lnTo>
                  <a:lnTo>
                    <a:pt x="0" y="589219"/>
                  </a:lnTo>
                  <a:lnTo>
                    <a:pt x="0" y="196406"/>
                  </a:lnTo>
                  <a:lnTo>
                    <a:pt x="5226" y="151890"/>
                  </a:lnTo>
                  <a:lnTo>
                    <a:pt x="18292" y="112606"/>
                  </a:lnTo>
                  <a:lnTo>
                    <a:pt x="41810" y="73325"/>
                  </a:lnTo>
                  <a:lnTo>
                    <a:pt x="73169" y="41900"/>
                  </a:lnTo>
                  <a:lnTo>
                    <a:pt x="109756" y="20950"/>
                  </a:lnTo>
                  <a:lnTo>
                    <a:pt x="151564" y="5237"/>
                  </a:lnTo>
                  <a:lnTo>
                    <a:pt x="195988" y="0"/>
                  </a:lnTo>
                  <a:lnTo>
                    <a:pt x="930296" y="0"/>
                  </a:lnTo>
                  <a:lnTo>
                    <a:pt x="974717" y="5237"/>
                  </a:lnTo>
                  <a:lnTo>
                    <a:pt x="1016528" y="20950"/>
                  </a:lnTo>
                  <a:lnTo>
                    <a:pt x="1053113" y="41900"/>
                  </a:lnTo>
                  <a:lnTo>
                    <a:pt x="1084471" y="73325"/>
                  </a:lnTo>
                  <a:lnTo>
                    <a:pt x="1107989" y="112606"/>
                  </a:lnTo>
                  <a:lnTo>
                    <a:pt x="1121058" y="151890"/>
                  </a:lnTo>
                  <a:lnTo>
                    <a:pt x="1126282" y="196406"/>
                  </a:lnTo>
                  <a:lnTo>
                    <a:pt x="1126282" y="589219"/>
                  </a:lnTo>
                  <a:lnTo>
                    <a:pt x="1121058" y="633738"/>
                  </a:lnTo>
                  <a:lnTo>
                    <a:pt x="1107989" y="675641"/>
                  </a:lnTo>
                  <a:lnTo>
                    <a:pt x="1084471" y="712301"/>
                  </a:lnTo>
                  <a:lnTo>
                    <a:pt x="1053113" y="743729"/>
                  </a:lnTo>
                  <a:lnTo>
                    <a:pt x="1016528" y="767297"/>
                  </a:lnTo>
                  <a:lnTo>
                    <a:pt x="974717" y="780389"/>
                  </a:lnTo>
                  <a:lnTo>
                    <a:pt x="930296" y="785626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02506" y="3997654"/>
              <a:ext cx="1126490" cy="786130"/>
            </a:xfrm>
            <a:custGeom>
              <a:avLst/>
              <a:gdLst/>
              <a:ahLst/>
              <a:cxnLst/>
              <a:rect l="l" t="t" r="r" b="b"/>
              <a:pathLst>
                <a:path w="1126490" h="786129">
                  <a:moveTo>
                    <a:pt x="930293" y="785626"/>
                  </a:moveTo>
                  <a:lnTo>
                    <a:pt x="974717" y="780389"/>
                  </a:lnTo>
                  <a:lnTo>
                    <a:pt x="1016528" y="767295"/>
                  </a:lnTo>
                  <a:lnTo>
                    <a:pt x="1053113" y="743726"/>
                  </a:lnTo>
                  <a:lnTo>
                    <a:pt x="1084471" y="712301"/>
                  </a:lnTo>
                  <a:lnTo>
                    <a:pt x="1107989" y="675638"/>
                  </a:lnTo>
                  <a:lnTo>
                    <a:pt x="1121055" y="633738"/>
                  </a:lnTo>
                  <a:lnTo>
                    <a:pt x="1126282" y="589219"/>
                  </a:lnTo>
                  <a:lnTo>
                    <a:pt x="1126282" y="196406"/>
                  </a:lnTo>
                  <a:lnTo>
                    <a:pt x="1121055" y="151887"/>
                  </a:lnTo>
                  <a:lnTo>
                    <a:pt x="1107989" y="112606"/>
                  </a:lnTo>
                  <a:lnTo>
                    <a:pt x="1084471" y="73325"/>
                  </a:lnTo>
                  <a:lnTo>
                    <a:pt x="1053113" y="41900"/>
                  </a:lnTo>
                  <a:lnTo>
                    <a:pt x="1016528" y="20950"/>
                  </a:lnTo>
                  <a:lnTo>
                    <a:pt x="974717" y="5237"/>
                  </a:lnTo>
                  <a:lnTo>
                    <a:pt x="930293" y="0"/>
                  </a:lnTo>
                  <a:lnTo>
                    <a:pt x="195988" y="0"/>
                  </a:lnTo>
                  <a:lnTo>
                    <a:pt x="151564" y="5237"/>
                  </a:lnTo>
                  <a:lnTo>
                    <a:pt x="109753" y="20950"/>
                  </a:lnTo>
                  <a:lnTo>
                    <a:pt x="73169" y="41900"/>
                  </a:lnTo>
                  <a:lnTo>
                    <a:pt x="41810" y="73325"/>
                  </a:lnTo>
                  <a:lnTo>
                    <a:pt x="18292" y="112606"/>
                  </a:lnTo>
                  <a:lnTo>
                    <a:pt x="5226" y="151887"/>
                  </a:lnTo>
                  <a:lnTo>
                    <a:pt x="0" y="196406"/>
                  </a:lnTo>
                  <a:lnTo>
                    <a:pt x="0" y="589219"/>
                  </a:lnTo>
                  <a:lnTo>
                    <a:pt x="5226" y="633738"/>
                  </a:lnTo>
                  <a:lnTo>
                    <a:pt x="18292" y="675638"/>
                  </a:lnTo>
                  <a:lnTo>
                    <a:pt x="41810" y="712301"/>
                  </a:lnTo>
                  <a:lnTo>
                    <a:pt x="73169" y="743726"/>
                  </a:lnTo>
                  <a:lnTo>
                    <a:pt x="109753" y="767295"/>
                  </a:lnTo>
                  <a:lnTo>
                    <a:pt x="151564" y="780389"/>
                  </a:lnTo>
                  <a:lnTo>
                    <a:pt x="195988" y="785626"/>
                  </a:lnTo>
                  <a:lnTo>
                    <a:pt x="930293" y="785626"/>
                  </a:lnTo>
                  <a:close/>
                </a:path>
              </a:pathLst>
            </a:custGeom>
            <a:ln w="5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71663" y="4149934"/>
            <a:ext cx="59753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 marR="5080" indent="-123189">
              <a:lnSpc>
                <a:spcPct val="101800"/>
              </a:lnSpc>
              <a:spcBef>
                <a:spcPts val="100"/>
              </a:spcBef>
            </a:pPr>
            <a:r>
              <a:rPr sz="1350" spc="20" dirty="0">
                <a:latin typeface="Arial MT"/>
                <a:cs typeface="Arial MT"/>
              </a:rPr>
              <a:t>S</a:t>
            </a:r>
            <a:r>
              <a:rPr sz="1350" dirty="0">
                <a:latin typeface="Arial MT"/>
                <a:cs typeface="Arial MT"/>
              </a:rPr>
              <a:t>y</a:t>
            </a:r>
            <a:r>
              <a:rPr sz="1350" spc="15" dirty="0">
                <a:latin typeface="Arial MT"/>
                <a:cs typeface="Arial MT"/>
              </a:rPr>
              <a:t>s</a:t>
            </a:r>
            <a:r>
              <a:rPr sz="1350" spc="10" dirty="0">
                <a:latin typeface="Arial MT"/>
                <a:cs typeface="Arial MT"/>
              </a:rPr>
              <a:t>t</a:t>
            </a:r>
            <a:r>
              <a:rPr sz="1350" spc="5" dirty="0">
                <a:latin typeface="Arial MT"/>
                <a:cs typeface="Arial MT"/>
              </a:rPr>
              <a:t>e</a:t>
            </a:r>
            <a:r>
              <a:rPr sz="1350" spc="10" dirty="0">
                <a:latin typeface="Arial MT"/>
                <a:cs typeface="Arial MT"/>
              </a:rPr>
              <a:t>m  path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30920" y="4780423"/>
            <a:ext cx="986155" cy="660400"/>
            <a:chOff x="1930920" y="4780423"/>
            <a:chExt cx="986155" cy="660400"/>
          </a:xfrm>
        </p:grpSpPr>
        <p:sp>
          <p:nvSpPr>
            <p:cNvPr id="18" name="object 18"/>
            <p:cNvSpPr/>
            <p:nvPr/>
          </p:nvSpPr>
          <p:spPr>
            <a:xfrm>
              <a:off x="1933776" y="4783280"/>
              <a:ext cx="980440" cy="654685"/>
            </a:xfrm>
            <a:custGeom>
              <a:avLst/>
              <a:gdLst/>
              <a:ahLst/>
              <a:cxnLst/>
              <a:rect l="l" t="t" r="r" b="b"/>
              <a:pathLst>
                <a:path w="980439" h="654685">
                  <a:moveTo>
                    <a:pt x="783957" y="654688"/>
                  </a:moveTo>
                  <a:lnTo>
                    <a:pt x="195991" y="654688"/>
                  </a:lnTo>
                  <a:lnTo>
                    <a:pt x="151567" y="649451"/>
                  </a:lnTo>
                  <a:lnTo>
                    <a:pt x="109756" y="636357"/>
                  </a:lnTo>
                  <a:lnTo>
                    <a:pt x="73169" y="612788"/>
                  </a:lnTo>
                  <a:lnTo>
                    <a:pt x="41813" y="581363"/>
                  </a:lnTo>
                  <a:lnTo>
                    <a:pt x="18294" y="544703"/>
                  </a:lnTo>
                  <a:lnTo>
                    <a:pt x="5226" y="502800"/>
                  </a:lnTo>
                  <a:lnTo>
                    <a:pt x="0" y="458282"/>
                  </a:lnTo>
                  <a:lnTo>
                    <a:pt x="0" y="196406"/>
                  </a:lnTo>
                  <a:lnTo>
                    <a:pt x="5226" y="154506"/>
                  </a:lnTo>
                  <a:lnTo>
                    <a:pt x="18294" y="112606"/>
                  </a:lnTo>
                  <a:lnTo>
                    <a:pt x="41813" y="73327"/>
                  </a:lnTo>
                  <a:lnTo>
                    <a:pt x="73169" y="44518"/>
                  </a:lnTo>
                  <a:lnTo>
                    <a:pt x="109756" y="20950"/>
                  </a:lnTo>
                  <a:lnTo>
                    <a:pt x="151567" y="5237"/>
                  </a:lnTo>
                  <a:lnTo>
                    <a:pt x="195991" y="0"/>
                  </a:lnTo>
                  <a:lnTo>
                    <a:pt x="783957" y="0"/>
                  </a:lnTo>
                  <a:lnTo>
                    <a:pt x="828379" y="5237"/>
                  </a:lnTo>
                  <a:lnTo>
                    <a:pt x="870190" y="20950"/>
                  </a:lnTo>
                  <a:lnTo>
                    <a:pt x="906777" y="44518"/>
                  </a:lnTo>
                  <a:lnTo>
                    <a:pt x="938132" y="73327"/>
                  </a:lnTo>
                  <a:lnTo>
                    <a:pt x="961651" y="112606"/>
                  </a:lnTo>
                  <a:lnTo>
                    <a:pt x="974720" y="154506"/>
                  </a:lnTo>
                  <a:lnTo>
                    <a:pt x="979946" y="196406"/>
                  </a:lnTo>
                  <a:lnTo>
                    <a:pt x="979946" y="458282"/>
                  </a:lnTo>
                  <a:lnTo>
                    <a:pt x="974720" y="502800"/>
                  </a:lnTo>
                  <a:lnTo>
                    <a:pt x="961651" y="544703"/>
                  </a:lnTo>
                  <a:lnTo>
                    <a:pt x="938132" y="581363"/>
                  </a:lnTo>
                  <a:lnTo>
                    <a:pt x="906777" y="612788"/>
                  </a:lnTo>
                  <a:lnTo>
                    <a:pt x="870190" y="636357"/>
                  </a:lnTo>
                  <a:lnTo>
                    <a:pt x="828379" y="649451"/>
                  </a:lnTo>
                  <a:lnTo>
                    <a:pt x="783957" y="654688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33778" y="4783280"/>
              <a:ext cx="980440" cy="654685"/>
            </a:xfrm>
            <a:custGeom>
              <a:avLst/>
              <a:gdLst/>
              <a:ahLst/>
              <a:cxnLst/>
              <a:rect l="l" t="t" r="r" b="b"/>
              <a:pathLst>
                <a:path w="980439" h="654685">
                  <a:moveTo>
                    <a:pt x="783955" y="654688"/>
                  </a:moveTo>
                  <a:lnTo>
                    <a:pt x="828379" y="649451"/>
                  </a:lnTo>
                  <a:lnTo>
                    <a:pt x="870190" y="636357"/>
                  </a:lnTo>
                  <a:lnTo>
                    <a:pt x="906774" y="612788"/>
                  </a:lnTo>
                  <a:lnTo>
                    <a:pt x="938132" y="581363"/>
                  </a:lnTo>
                  <a:lnTo>
                    <a:pt x="961651" y="544701"/>
                  </a:lnTo>
                  <a:lnTo>
                    <a:pt x="974717" y="502800"/>
                  </a:lnTo>
                  <a:lnTo>
                    <a:pt x="979943" y="458282"/>
                  </a:lnTo>
                  <a:lnTo>
                    <a:pt x="979943" y="196406"/>
                  </a:lnTo>
                  <a:lnTo>
                    <a:pt x="974717" y="154506"/>
                  </a:lnTo>
                  <a:lnTo>
                    <a:pt x="961651" y="112606"/>
                  </a:lnTo>
                  <a:lnTo>
                    <a:pt x="938132" y="73325"/>
                  </a:lnTo>
                  <a:lnTo>
                    <a:pt x="906774" y="44518"/>
                  </a:lnTo>
                  <a:lnTo>
                    <a:pt x="870190" y="20950"/>
                  </a:lnTo>
                  <a:lnTo>
                    <a:pt x="828379" y="5237"/>
                  </a:lnTo>
                  <a:lnTo>
                    <a:pt x="783955" y="0"/>
                  </a:lnTo>
                  <a:lnTo>
                    <a:pt x="195988" y="0"/>
                  </a:lnTo>
                  <a:lnTo>
                    <a:pt x="151564" y="5237"/>
                  </a:lnTo>
                  <a:lnTo>
                    <a:pt x="109753" y="20950"/>
                  </a:lnTo>
                  <a:lnTo>
                    <a:pt x="73169" y="44518"/>
                  </a:lnTo>
                  <a:lnTo>
                    <a:pt x="41810" y="73325"/>
                  </a:lnTo>
                  <a:lnTo>
                    <a:pt x="18292" y="112606"/>
                  </a:lnTo>
                  <a:lnTo>
                    <a:pt x="5226" y="154506"/>
                  </a:lnTo>
                  <a:lnTo>
                    <a:pt x="0" y="196406"/>
                  </a:lnTo>
                  <a:lnTo>
                    <a:pt x="0" y="458282"/>
                  </a:lnTo>
                  <a:lnTo>
                    <a:pt x="5226" y="502800"/>
                  </a:lnTo>
                  <a:lnTo>
                    <a:pt x="18292" y="544701"/>
                  </a:lnTo>
                  <a:lnTo>
                    <a:pt x="41810" y="581363"/>
                  </a:lnTo>
                  <a:lnTo>
                    <a:pt x="73169" y="612788"/>
                  </a:lnTo>
                  <a:lnTo>
                    <a:pt x="109753" y="636357"/>
                  </a:lnTo>
                  <a:lnTo>
                    <a:pt x="151564" y="649451"/>
                  </a:lnTo>
                  <a:lnTo>
                    <a:pt x="195988" y="654688"/>
                  </a:lnTo>
                  <a:lnTo>
                    <a:pt x="783955" y="654688"/>
                  </a:lnTo>
                  <a:close/>
                </a:path>
              </a:pathLst>
            </a:custGeom>
            <a:ln w="52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74889" y="4870093"/>
            <a:ext cx="71120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54305">
              <a:lnSpc>
                <a:spcPct val="101800"/>
              </a:lnSpc>
              <a:spcBef>
                <a:spcPts val="100"/>
              </a:spcBef>
            </a:pPr>
            <a:r>
              <a:rPr sz="1350" spc="10" dirty="0">
                <a:latin typeface="Arial MT"/>
                <a:cs typeface="Arial MT"/>
              </a:rPr>
              <a:t>D</a:t>
            </a:r>
            <a:r>
              <a:rPr sz="1350" spc="5" dirty="0">
                <a:latin typeface="Arial MT"/>
                <a:cs typeface="Arial MT"/>
              </a:rPr>
              <a:t>i</a:t>
            </a:r>
            <a:r>
              <a:rPr sz="1350" dirty="0">
                <a:latin typeface="Arial MT"/>
                <a:cs typeface="Arial MT"/>
              </a:rPr>
              <a:t>re</a:t>
            </a:r>
            <a:r>
              <a:rPr sz="1350" spc="15" dirty="0">
                <a:latin typeface="Arial MT"/>
                <a:cs typeface="Arial MT"/>
              </a:rPr>
              <a:t>c</a:t>
            </a:r>
            <a:r>
              <a:rPr sz="1350" spc="10" dirty="0">
                <a:latin typeface="Arial MT"/>
                <a:cs typeface="Arial MT"/>
              </a:rPr>
              <a:t>t</a:t>
            </a:r>
            <a:r>
              <a:rPr sz="1350" spc="5" dirty="0">
                <a:latin typeface="Arial MT"/>
                <a:cs typeface="Arial MT"/>
              </a:rPr>
              <a:t>o</a:t>
            </a:r>
            <a:r>
              <a:rPr sz="1350" spc="-5" dirty="0">
                <a:latin typeface="Arial MT"/>
                <a:cs typeface="Arial MT"/>
              </a:rPr>
              <a:t>ry  </a:t>
            </a:r>
            <a:r>
              <a:rPr sz="1350" spc="5" dirty="0">
                <a:latin typeface="Arial MT"/>
                <a:cs typeface="Arial MT"/>
              </a:rPr>
              <a:t>entry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39670" y="1635376"/>
            <a:ext cx="130810" cy="1217930"/>
            <a:chOff x="3339670" y="1635376"/>
            <a:chExt cx="130810" cy="1217930"/>
          </a:xfrm>
        </p:grpSpPr>
        <p:sp>
          <p:nvSpPr>
            <p:cNvPr id="22" name="object 22"/>
            <p:cNvSpPr/>
            <p:nvPr/>
          </p:nvSpPr>
          <p:spPr>
            <a:xfrm>
              <a:off x="3404999" y="1640774"/>
              <a:ext cx="0" cy="1031875"/>
            </a:xfrm>
            <a:custGeom>
              <a:avLst/>
              <a:gdLst/>
              <a:ahLst/>
              <a:cxnLst/>
              <a:rect l="l" t="t" r="r" b="b"/>
              <a:pathLst>
                <a:path h="1031875">
                  <a:moveTo>
                    <a:pt x="0" y="827527"/>
                  </a:moveTo>
                  <a:lnTo>
                    <a:pt x="0" y="1031789"/>
                  </a:lnTo>
                </a:path>
                <a:path h="1031875">
                  <a:moveTo>
                    <a:pt x="0" y="0"/>
                  </a:moveTo>
                  <a:lnTo>
                    <a:pt x="0" y="369244"/>
                  </a:lnTo>
                </a:path>
              </a:pathLst>
            </a:custGeom>
            <a:ln w="104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39670" y="2656849"/>
              <a:ext cx="130810" cy="196850"/>
            </a:xfrm>
            <a:custGeom>
              <a:avLst/>
              <a:gdLst/>
              <a:ahLst/>
              <a:cxnLst/>
              <a:rect l="l" t="t" r="r" b="b"/>
              <a:pathLst>
                <a:path w="130810" h="196850">
                  <a:moveTo>
                    <a:pt x="65329" y="196409"/>
                  </a:moveTo>
                  <a:lnTo>
                    <a:pt x="0" y="0"/>
                  </a:lnTo>
                  <a:lnTo>
                    <a:pt x="130659" y="0"/>
                  </a:lnTo>
                  <a:lnTo>
                    <a:pt x="65329" y="1964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19646" y="1308586"/>
            <a:ext cx="1176655" cy="11423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350" spc="10" dirty="0">
                <a:latin typeface="Arial MT"/>
                <a:cs typeface="Arial MT"/>
              </a:rPr>
              <a:t>User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Arial MT"/>
              <a:cs typeface="Arial MT"/>
            </a:endParaRPr>
          </a:p>
          <a:p>
            <a:pPr marR="5080" algn="ctr">
              <a:lnSpc>
                <a:spcPct val="101800"/>
              </a:lnSpc>
            </a:pPr>
            <a:r>
              <a:rPr sz="1350" spc="10" dirty="0">
                <a:latin typeface="Arial MT"/>
                <a:cs typeface="Arial MT"/>
              </a:rPr>
              <a:t>sends</a:t>
            </a:r>
            <a:r>
              <a:rPr sz="1350" spc="-65" dirty="0">
                <a:latin typeface="Arial MT"/>
                <a:cs typeface="Arial MT"/>
              </a:rPr>
              <a:t> </a:t>
            </a:r>
            <a:r>
              <a:rPr sz="1350" spc="5" dirty="0">
                <a:latin typeface="Arial MT"/>
                <a:cs typeface="Arial MT"/>
              </a:rPr>
              <a:t>program </a:t>
            </a:r>
            <a:r>
              <a:rPr sz="1350" spc="-360" dirty="0">
                <a:latin typeface="Arial MT"/>
                <a:cs typeface="Arial MT"/>
              </a:rPr>
              <a:t> </a:t>
            </a:r>
            <a:r>
              <a:rPr sz="1350" spc="15" dirty="0">
                <a:latin typeface="Arial MT"/>
                <a:cs typeface="Arial MT"/>
              </a:rPr>
              <a:t>name</a:t>
            </a:r>
            <a:r>
              <a:rPr sz="1350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to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103630" y="3565397"/>
            <a:ext cx="1306830" cy="1217930"/>
            <a:chOff x="2103630" y="3565397"/>
            <a:chExt cx="1306830" cy="1217930"/>
          </a:xfrm>
        </p:grpSpPr>
        <p:sp>
          <p:nvSpPr>
            <p:cNvPr id="26" name="object 26"/>
            <p:cNvSpPr/>
            <p:nvPr/>
          </p:nvSpPr>
          <p:spPr>
            <a:xfrm>
              <a:off x="2422441" y="3570795"/>
              <a:ext cx="982980" cy="1031875"/>
            </a:xfrm>
            <a:custGeom>
              <a:avLst/>
              <a:gdLst/>
              <a:ahLst/>
              <a:cxnLst/>
              <a:rect l="l" t="t" r="r" b="b"/>
              <a:pathLst>
                <a:path w="982979" h="1031875">
                  <a:moveTo>
                    <a:pt x="982557" y="0"/>
                  </a:moveTo>
                  <a:lnTo>
                    <a:pt x="982557" y="295919"/>
                  </a:lnTo>
                  <a:lnTo>
                    <a:pt x="0" y="295919"/>
                  </a:lnTo>
                  <a:lnTo>
                    <a:pt x="0" y="1031789"/>
                  </a:lnTo>
                </a:path>
              </a:pathLst>
            </a:custGeom>
            <a:ln w="104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7111" y="4586871"/>
              <a:ext cx="130810" cy="196850"/>
            </a:xfrm>
            <a:custGeom>
              <a:avLst/>
              <a:gdLst/>
              <a:ahLst/>
              <a:cxnLst/>
              <a:rect l="l" t="t" r="r" b="b"/>
              <a:pathLst>
                <a:path w="130810" h="196850">
                  <a:moveTo>
                    <a:pt x="65329" y="196406"/>
                  </a:moveTo>
                  <a:lnTo>
                    <a:pt x="0" y="0"/>
                  </a:lnTo>
                  <a:lnTo>
                    <a:pt x="130659" y="0"/>
                  </a:lnTo>
                  <a:lnTo>
                    <a:pt x="65329" y="1964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03630" y="3631027"/>
              <a:ext cx="998855" cy="458470"/>
            </a:xfrm>
            <a:custGeom>
              <a:avLst/>
              <a:gdLst/>
              <a:ahLst/>
              <a:cxnLst/>
              <a:rect l="l" t="t" r="r" b="b"/>
              <a:pathLst>
                <a:path w="998855" h="458470">
                  <a:moveTo>
                    <a:pt x="998238" y="458282"/>
                  </a:moveTo>
                  <a:lnTo>
                    <a:pt x="0" y="458282"/>
                  </a:lnTo>
                  <a:lnTo>
                    <a:pt x="0" y="0"/>
                  </a:lnTo>
                  <a:lnTo>
                    <a:pt x="998238" y="0"/>
                  </a:lnTo>
                  <a:lnTo>
                    <a:pt x="998238" y="4582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24538" y="3626181"/>
            <a:ext cx="96901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18415">
              <a:lnSpc>
                <a:spcPct val="101800"/>
              </a:lnSpc>
              <a:spcBef>
                <a:spcPts val="100"/>
              </a:spcBef>
            </a:pPr>
            <a:r>
              <a:rPr sz="1350" spc="5" dirty="0">
                <a:latin typeface="Arial MT"/>
                <a:cs typeface="Arial MT"/>
              </a:rPr>
              <a:t>gets starting </a:t>
            </a:r>
            <a:r>
              <a:rPr sz="1350" spc="-365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cluster</a:t>
            </a:r>
            <a:r>
              <a:rPr sz="1350" spc="-45" dirty="0">
                <a:latin typeface="Arial MT"/>
                <a:cs typeface="Arial MT"/>
              </a:rPr>
              <a:t> </a:t>
            </a:r>
            <a:r>
              <a:rPr sz="1350" spc="5" dirty="0">
                <a:latin typeface="Arial MT"/>
                <a:cs typeface="Arial MT"/>
              </a:rPr>
              <a:t>from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64012" y="3146555"/>
            <a:ext cx="539115" cy="131445"/>
            <a:chOff x="5464012" y="3146555"/>
            <a:chExt cx="539115" cy="131445"/>
          </a:xfrm>
        </p:grpSpPr>
        <p:sp>
          <p:nvSpPr>
            <p:cNvPr id="31" name="object 31"/>
            <p:cNvSpPr/>
            <p:nvPr/>
          </p:nvSpPr>
          <p:spPr>
            <a:xfrm>
              <a:off x="5469410" y="3212024"/>
              <a:ext cx="353060" cy="0"/>
            </a:xfrm>
            <a:custGeom>
              <a:avLst/>
              <a:gdLst/>
              <a:ahLst/>
              <a:cxnLst/>
              <a:rect l="l" t="t" r="r" b="b"/>
              <a:pathLst>
                <a:path w="353060">
                  <a:moveTo>
                    <a:pt x="0" y="0"/>
                  </a:moveTo>
                  <a:lnTo>
                    <a:pt x="352782" y="0"/>
                  </a:lnTo>
                </a:path>
              </a:pathLst>
            </a:custGeom>
            <a:ln w="10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06513" y="3146555"/>
              <a:ext cx="196215" cy="131445"/>
            </a:xfrm>
            <a:custGeom>
              <a:avLst/>
              <a:gdLst/>
              <a:ahLst/>
              <a:cxnLst/>
              <a:rect l="l" t="t" r="r" b="b"/>
              <a:pathLst>
                <a:path w="196214" h="131445">
                  <a:moveTo>
                    <a:pt x="0" y="130937"/>
                  </a:moveTo>
                  <a:lnTo>
                    <a:pt x="0" y="0"/>
                  </a:lnTo>
                  <a:lnTo>
                    <a:pt x="195988" y="65468"/>
                  </a:lnTo>
                  <a:lnTo>
                    <a:pt x="0" y="130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020866" y="2971496"/>
            <a:ext cx="244030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5080" indent="-102235">
              <a:lnSpc>
                <a:spcPct val="101800"/>
              </a:lnSpc>
              <a:spcBef>
                <a:spcPts val="100"/>
              </a:spcBef>
              <a:tabLst>
                <a:tab pos="909319" algn="l"/>
                <a:tab pos="1439545" algn="l"/>
                <a:tab pos="1525905" algn="l"/>
              </a:tabLst>
            </a:pPr>
            <a:r>
              <a:rPr sz="1350" spc="5" dirty="0">
                <a:latin typeface="Arial MT"/>
                <a:cs typeface="Arial MT"/>
              </a:rPr>
              <a:t>Operating	</a:t>
            </a:r>
            <a:r>
              <a:rPr sz="1350" u="sng" spc="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350" u="sng" spc="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350" spc="-190" dirty="0">
                <a:latin typeface="Arial MT"/>
                <a:cs typeface="Arial MT"/>
              </a:rPr>
              <a:t> </a:t>
            </a:r>
            <a:r>
              <a:rPr sz="1350" spc="5" dirty="0">
                <a:latin typeface="Arial MT"/>
                <a:cs typeface="Arial MT"/>
              </a:rPr>
              <a:t>searches for </a:t>
            </a:r>
            <a:r>
              <a:rPr sz="1350" spc="-365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system			</a:t>
            </a:r>
            <a:r>
              <a:rPr sz="1350" spc="5" dirty="0">
                <a:latin typeface="Arial MT"/>
                <a:cs typeface="Arial MT"/>
              </a:rPr>
              <a:t>program</a:t>
            </a:r>
            <a:r>
              <a:rPr sz="1350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in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002565" y="3206625"/>
            <a:ext cx="3000375" cy="1938655"/>
            <a:chOff x="3002565" y="3206625"/>
            <a:chExt cx="3000375" cy="1938655"/>
          </a:xfrm>
        </p:grpSpPr>
        <p:sp>
          <p:nvSpPr>
            <p:cNvPr id="35" name="object 35"/>
            <p:cNvSpPr/>
            <p:nvPr/>
          </p:nvSpPr>
          <p:spPr>
            <a:xfrm>
              <a:off x="5560872" y="3212023"/>
              <a:ext cx="261620" cy="1178560"/>
            </a:xfrm>
            <a:custGeom>
              <a:avLst/>
              <a:gdLst/>
              <a:ahLst/>
              <a:cxnLst/>
              <a:rect l="l" t="t" r="r" b="b"/>
              <a:pathLst>
                <a:path w="261620" h="1178560">
                  <a:moveTo>
                    <a:pt x="0" y="0"/>
                  </a:moveTo>
                  <a:lnTo>
                    <a:pt x="0" y="1178439"/>
                  </a:lnTo>
                  <a:lnTo>
                    <a:pt x="261318" y="1178439"/>
                  </a:lnTo>
                </a:path>
              </a:pathLst>
            </a:custGeom>
            <a:ln w="1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06512" y="4324993"/>
              <a:ext cx="196215" cy="131445"/>
            </a:xfrm>
            <a:custGeom>
              <a:avLst/>
              <a:gdLst/>
              <a:ahLst/>
              <a:cxnLst/>
              <a:rect l="l" t="t" r="r" b="b"/>
              <a:pathLst>
                <a:path w="196214" h="131445">
                  <a:moveTo>
                    <a:pt x="0" y="130937"/>
                  </a:moveTo>
                  <a:lnTo>
                    <a:pt x="0" y="0"/>
                  </a:lnTo>
                  <a:lnTo>
                    <a:pt x="195988" y="65468"/>
                  </a:lnTo>
                  <a:lnTo>
                    <a:pt x="0" y="130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04995" y="3570791"/>
              <a:ext cx="358140" cy="1508760"/>
            </a:xfrm>
            <a:custGeom>
              <a:avLst/>
              <a:gdLst/>
              <a:ahLst/>
              <a:cxnLst/>
              <a:rect l="l" t="t" r="r" b="b"/>
              <a:pathLst>
                <a:path w="358139" h="1508760">
                  <a:moveTo>
                    <a:pt x="0" y="0"/>
                  </a:moveTo>
                  <a:lnTo>
                    <a:pt x="0" y="1508402"/>
                  </a:lnTo>
                  <a:lnTo>
                    <a:pt x="358006" y="1508402"/>
                  </a:lnTo>
                </a:path>
              </a:pathLst>
            </a:custGeom>
            <a:ln w="1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47321" y="5013724"/>
              <a:ext cx="196215" cy="131445"/>
            </a:xfrm>
            <a:custGeom>
              <a:avLst/>
              <a:gdLst/>
              <a:ahLst/>
              <a:cxnLst/>
              <a:rect l="l" t="t" r="r" b="b"/>
              <a:pathLst>
                <a:path w="196214" h="131445">
                  <a:moveTo>
                    <a:pt x="0" y="130937"/>
                  </a:moveTo>
                  <a:lnTo>
                    <a:pt x="0" y="0"/>
                  </a:lnTo>
                  <a:lnTo>
                    <a:pt x="195991" y="65468"/>
                  </a:lnTo>
                  <a:lnTo>
                    <a:pt x="0" y="130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02565" y="4359034"/>
              <a:ext cx="802640" cy="458470"/>
            </a:xfrm>
            <a:custGeom>
              <a:avLst/>
              <a:gdLst/>
              <a:ahLst/>
              <a:cxnLst/>
              <a:rect l="l" t="t" r="r" b="b"/>
              <a:pathLst>
                <a:path w="802639" h="458470">
                  <a:moveTo>
                    <a:pt x="802247" y="458282"/>
                  </a:moveTo>
                  <a:lnTo>
                    <a:pt x="0" y="458282"/>
                  </a:lnTo>
                  <a:lnTo>
                    <a:pt x="0" y="0"/>
                  </a:lnTo>
                  <a:lnTo>
                    <a:pt x="802247" y="0"/>
                  </a:lnTo>
                  <a:lnTo>
                    <a:pt x="802247" y="4582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023469" y="4354192"/>
            <a:ext cx="77089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indent="-165100">
              <a:lnSpc>
                <a:spcPct val="101800"/>
              </a:lnSpc>
              <a:spcBef>
                <a:spcPts val="100"/>
              </a:spcBef>
            </a:pPr>
            <a:r>
              <a:rPr sz="1350" spc="5" dirty="0">
                <a:latin typeface="Arial MT"/>
                <a:cs typeface="Arial MT"/>
              </a:rPr>
              <a:t>loads</a:t>
            </a:r>
            <a:r>
              <a:rPr sz="1350" spc="-55" dirty="0">
                <a:latin typeface="Arial MT"/>
                <a:cs typeface="Arial MT"/>
              </a:rPr>
              <a:t> </a:t>
            </a:r>
            <a:r>
              <a:rPr sz="1350" spc="5" dirty="0">
                <a:latin typeface="Arial MT"/>
                <a:cs typeface="Arial MT"/>
              </a:rPr>
              <a:t>and </a:t>
            </a:r>
            <a:r>
              <a:rPr sz="1350" spc="-360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starts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940452" y="4730660"/>
            <a:ext cx="1035685" cy="694690"/>
            <a:chOff x="3940452" y="4730660"/>
            <a:chExt cx="1035685" cy="694690"/>
          </a:xfrm>
        </p:grpSpPr>
        <p:sp>
          <p:nvSpPr>
            <p:cNvPr id="42" name="object 42"/>
            <p:cNvSpPr/>
            <p:nvPr/>
          </p:nvSpPr>
          <p:spPr>
            <a:xfrm>
              <a:off x="3943310" y="4733516"/>
              <a:ext cx="1029969" cy="688975"/>
            </a:xfrm>
            <a:custGeom>
              <a:avLst/>
              <a:gdLst/>
              <a:ahLst/>
              <a:cxnLst/>
              <a:rect l="l" t="t" r="r" b="b"/>
              <a:pathLst>
                <a:path w="1029970" h="688975">
                  <a:moveTo>
                    <a:pt x="833605" y="688735"/>
                  </a:moveTo>
                  <a:lnTo>
                    <a:pt x="195988" y="688735"/>
                  </a:lnTo>
                  <a:lnTo>
                    <a:pt x="151564" y="683495"/>
                  </a:lnTo>
                  <a:lnTo>
                    <a:pt x="109753" y="670403"/>
                  </a:lnTo>
                  <a:lnTo>
                    <a:pt x="73169" y="646835"/>
                  </a:lnTo>
                  <a:lnTo>
                    <a:pt x="41810" y="615407"/>
                  </a:lnTo>
                  <a:lnTo>
                    <a:pt x="18292" y="578747"/>
                  </a:lnTo>
                  <a:lnTo>
                    <a:pt x="5226" y="536847"/>
                  </a:lnTo>
                  <a:lnTo>
                    <a:pt x="0" y="492325"/>
                  </a:lnTo>
                  <a:lnTo>
                    <a:pt x="0" y="196409"/>
                  </a:lnTo>
                  <a:lnTo>
                    <a:pt x="5226" y="154509"/>
                  </a:lnTo>
                  <a:lnTo>
                    <a:pt x="18292" y="112609"/>
                  </a:lnTo>
                  <a:lnTo>
                    <a:pt x="41810" y="75946"/>
                  </a:lnTo>
                  <a:lnTo>
                    <a:pt x="73169" y="44518"/>
                  </a:lnTo>
                  <a:lnTo>
                    <a:pt x="109753" y="20950"/>
                  </a:lnTo>
                  <a:lnTo>
                    <a:pt x="151564" y="5240"/>
                  </a:lnTo>
                  <a:lnTo>
                    <a:pt x="195988" y="0"/>
                  </a:lnTo>
                  <a:lnTo>
                    <a:pt x="833605" y="0"/>
                  </a:lnTo>
                  <a:lnTo>
                    <a:pt x="875416" y="5240"/>
                  </a:lnTo>
                  <a:lnTo>
                    <a:pt x="917227" y="20950"/>
                  </a:lnTo>
                  <a:lnTo>
                    <a:pt x="956425" y="44518"/>
                  </a:lnTo>
                  <a:lnTo>
                    <a:pt x="985170" y="75946"/>
                  </a:lnTo>
                  <a:lnTo>
                    <a:pt x="1008688" y="112609"/>
                  </a:lnTo>
                  <a:lnTo>
                    <a:pt x="1024368" y="154509"/>
                  </a:lnTo>
                  <a:lnTo>
                    <a:pt x="1029594" y="196409"/>
                  </a:lnTo>
                  <a:lnTo>
                    <a:pt x="1029594" y="492325"/>
                  </a:lnTo>
                  <a:lnTo>
                    <a:pt x="1024368" y="536847"/>
                  </a:lnTo>
                  <a:lnTo>
                    <a:pt x="1008688" y="578747"/>
                  </a:lnTo>
                  <a:lnTo>
                    <a:pt x="985170" y="615407"/>
                  </a:lnTo>
                  <a:lnTo>
                    <a:pt x="956425" y="646835"/>
                  </a:lnTo>
                  <a:lnTo>
                    <a:pt x="917227" y="670403"/>
                  </a:lnTo>
                  <a:lnTo>
                    <a:pt x="875416" y="683495"/>
                  </a:lnTo>
                  <a:lnTo>
                    <a:pt x="833605" y="688735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43310" y="4733518"/>
              <a:ext cx="1029969" cy="688975"/>
            </a:xfrm>
            <a:custGeom>
              <a:avLst/>
              <a:gdLst/>
              <a:ahLst/>
              <a:cxnLst/>
              <a:rect l="l" t="t" r="r" b="b"/>
              <a:pathLst>
                <a:path w="1029970" h="688975">
                  <a:moveTo>
                    <a:pt x="833605" y="688732"/>
                  </a:moveTo>
                  <a:lnTo>
                    <a:pt x="875416" y="683495"/>
                  </a:lnTo>
                  <a:lnTo>
                    <a:pt x="917227" y="670401"/>
                  </a:lnTo>
                  <a:lnTo>
                    <a:pt x="956425" y="646832"/>
                  </a:lnTo>
                  <a:lnTo>
                    <a:pt x="985170" y="615407"/>
                  </a:lnTo>
                  <a:lnTo>
                    <a:pt x="1008688" y="578744"/>
                  </a:lnTo>
                  <a:lnTo>
                    <a:pt x="1024368" y="536844"/>
                  </a:lnTo>
                  <a:lnTo>
                    <a:pt x="1029594" y="492325"/>
                  </a:lnTo>
                  <a:lnTo>
                    <a:pt x="1029594" y="196406"/>
                  </a:lnTo>
                  <a:lnTo>
                    <a:pt x="1024368" y="154506"/>
                  </a:lnTo>
                  <a:lnTo>
                    <a:pt x="1008688" y="112606"/>
                  </a:lnTo>
                  <a:lnTo>
                    <a:pt x="985170" y="75943"/>
                  </a:lnTo>
                  <a:lnTo>
                    <a:pt x="956425" y="44518"/>
                  </a:lnTo>
                  <a:lnTo>
                    <a:pt x="917227" y="20950"/>
                  </a:lnTo>
                  <a:lnTo>
                    <a:pt x="875416" y="5237"/>
                  </a:lnTo>
                  <a:lnTo>
                    <a:pt x="833605" y="0"/>
                  </a:lnTo>
                  <a:lnTo>
                    <a:pt x="195988" y="0"/>
                  </a:lnTo>
                  <a:lnTo>
                    <a:pt x="151564" y="5237"/>
                  </a:lnTo>
                  <a:lnTo>
                    <a:pt x="109753" y="20950"/>
                  </a:lnTo>
                  <a:lnTo>
                    <a:pt x="73169" y="44518"/>
                  </a:lnTo>
                  <a:lnTo>
                    <a:pt x="41810" y="75943"/>
                  </a:lnTo>
                  <a:lnTo>
                    <a:pt x="18292" y="112606"/>
                  </a:lnTo>
                  <a:lnTo>
                    <a:pt x="5226" y="154506"/>
                  </a:lnTo>
                  <a:lnTo>
                    <a:pt x="0" y="196406"/>
                  </a:lnTo>
                  <a:lnTo>
                    <a:pt x="0" y="492325"/>
                  </a:lnTo>
                  <a:lnTo>
                    <a:pt x="5226" y="536844"/>
                  </a:lnTo>
                  <a:lnTo>
                    <a:pt x="18292" y="578744"/>
                  </a:lnTo>
                  <a:lnTo>
                    <a:pt x="41810" y="615407"/>
                  </a:lnTo>
                  <a:lnTo>
                    <a:pt x="73169" y="646832"/>
                  </a:lnTo>
                  <a:lnTo>
                    <a:pt x="109753" y="670401"/>
                  </a:lnTo>
                  <a:lnTo>
                    <a:pt x="151564" y="683495"/>
                  </a:lnTo>
                  <a:lnTo>
                    <a:pt x="195988" y="688732"/>
                  </a:lnTo>
                  <a:lnTo>
                    <a:pt x="833605" y="688732"/>
                  </a:lnTo>
                  <a:close/>
                </a:path>
              </a:pathLst>
            </a:custGeom>
            <a:ln w="52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121006" y="4943411"/>
            <a:ext cx="68072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350" spc="5" dirty="0">
                <a:latin typeface="Arial MT"/>
                <a:cs typeface="Arial MT"/>
              </a:rPr>
              <a:t>Program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96970" y="3604832"/>
            <a:ext cx="669290" cy="1136650"/>
            <a:chOff x="3796970" y="3604832"/>
            <a:chExt cx="669290" cy="1136650"/>
          </a:xfrm>
        </p:grpSpPr>
        <p:sp>
          <p:nvSpPr>
            <p:cNvPr id="46" name="object 46"/>
            <p:cNvSpPr/>
            <p:nvPr/>
          </p:nvSpPr>
          <p:spPr>
            <a:xfrm>
              <a:off x="3862301" y="3717440"/>
              <a:ext cx="596265" cy="1016635"/>
            </a:xfrm>
            <a:custGeom>
              <a:avLst/>
              <a:gdLst/>
              <a:ahLst/>
              <a:cxnLst/>
              <a:rect l="l" t="t" r="r" b="b"/>
              <a:pathLst>
                <a:path w="596264" h="1016635">
                  <a:moveTo>
                    <a:pt x="595805" y="1016077"/>
                  </a:moveTo>
                  <a:lnTo>
                    <a:pt x="0" y="0"/>
                  </a:lnTo>
                </a:path>
              </a:pathLst>
            </a:custGeom>
            <a:ln w="15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6970" y="3604832"/>
              <a:ext cx="162017" cy="19379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3817876" y="3911621"/>
            <a:ext cx="75311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350" spc="5" dirty="0">
                <a:latin typeface="Arial MT"/>
                <a:cs typeface="Arial MT"/>
              </a:rPr>
              <a:t>returns</a:t>
            </a:r>
            <a:r>
              <a:rPr sz="1350" spc="-45" dirty="0">
                <a:latin typeface="Arial MT"/>
                <a:cs typeface="Arial MT"/>
              </a:rPr>
              <a:t> </a:t>
            </a:r>
            <a:r>
              <a:rPr sz="1350" spc="10" dirty="0">
                <a:latin typeface="Arial MT"/>
                <a:cs typeface="Arial MT"/>
              </a:rPr>
              <a:t>to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2119" y="158495"/>
            <a:ext cx="5727700" cy="902335"/>
            <a:chOff x="1722119" y="158495"/>
            <a:chExt cx="572770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2119" y="158495"/>
              <a:ext cx="920495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6167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1803" y="158495"/>
              <a:ext cx="5207506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63039" y="264668"/>
            <a:ext cx="52158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IA-32</a:t>
            </a:r>
            <a:r>
              <a:rPr spc="-45" dirty="0"/>
              <a:t> </a:t>
            </a:r>
            <a:r>
              <a:rPr dirty="0"/>
              <a:t>Processor</a:t>
            </a:r>
            <a:r>
              <a:rPr spc="-55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1907539" y="1552448"/>
            <a:ext cx="4264660" cy="134844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Modes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operation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Basic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environment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Floating-point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unit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5" y="158495"/>
            <a:ext cx="4101082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854" y="264668"/>
            <a:ext cx="35883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Modes</a:t>
            </a:r>
            <a:r>
              <a:rPr spc="-50" dirty="0"/>
              <a:t> </a:t>
            </a:r>
            <a:r>
              <a:rPr spc="-5" dirty="0"/>
              <a:t>of</a:t>
            </a:r>
            <a:r>
              <a:rPr spc="-45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764540" y="1095114"/>
            <a:ext cx="6880225" cy="25488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Protected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2400" dirty="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native mode (Windows,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Linux)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Real-address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2400" dirty="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native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MS-DOS</a:t>
            </a:r>
            <a:endParaRPr lang="en-US" sz="22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lang="en-US"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spc="-5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lang="en-US"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4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lang="en-US" sz="2400" dirty="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lang="en-US" sz="2200" spc="-5" dirty="0">
                <a:solidFill>
                  <a:srgbClr val="FFFFFF"/>
                </a:solidFill>
                <a:latin typeface="Arial MT"/>
                <a:cs typeface="Arial MT"/>
              </a:rPr>
              <a:t>power</a:t>
            </a:r>
            <a:r>
              <a:rPr lang="en-US"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200" spc="-5" dirty="0">
                <a:solidFill>
                  <a:srgbClr val="FFFFFF"/>
                </a:solidFill>
                <a:latin typeface="Arial MT"/>
                <a:cs typeface="Arial MT"/>
              </a:rPr>
              <a:t>management,</a:t>
            </a:r>
            <a:r>
              <a:rPr lang="en-US" sz="22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200" spc="-5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lang="en-US"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200" spc="-5" dirty="0">
                <a:solidFill>
                  <a:srgbClr val="FFFFFF"/>
                </a:solidFill>
                <a:latin typeface="Arial MT"/>
                <a:cs typeface="Arial MT"/>
              </a:rPr>
              <a:t>security,</a:t>
            </a:r>
            <a:r>
              <a:rPr lang="en-US"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2200" spc="-5" dirty="0">
                <a:solidFill>
                  <a:srgbClr val="FFFFFF"/>
                </a:solidFill>
                <a:latin typeface="Arial MT"/>
                <a:cs typeface="Arial MT"/>
              </a:rPr>
              <a:t>diagnostics</a:t>
            </a:r>
            <a:endParaRPr lang="en-US" sz="22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4114800"/>
            <a:ext cx="7467600" cy="145097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129540" rIns="0" bIns="0" rtlCol="0">
            <a:spAutoFit/>
          </a:bodyPr>
          <a:lstStyle/>
          <a:p>
            <a:pPr marL="322580" indent="-231775">
              <a:lnSpc>
                <a:spcPct val="100000"/>
              </a:lnSpc>
              <a:spcBef>
                <a:spcPts val="1020"/>
              </a:spcBef>
              <a:buChar char="•"/>
              <a:tabLst>
                <a:tab pos="323215" algn="l"/>
              </a:tabLst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Virtual-8086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2400">
              <a:latin typeface="Arial MT"/>
              <a:cs typeface="Arial MT"/>
            </a:endParaRPr>
          </a:p>
          <a:p>
            <a:pPr marL="775335" lvl="1" indent="-227329">
              <a:lnSpc>
                <a:spcPct val="100000"/>
              </a:lnSpc>
              <a:spcBef>
                <a:spcPts val="525"/>
              </a:spcBef>
              <a:buChar char="•"/>
              <a:tabLst>
                <a:tab pos="775335" algn="l"/>
                <a:tab pos="77597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hybrid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Protected</a:t>
            </a:r>
            <a:endParaRPr sz="2200">
              <a:latin typeface="Arial MT"/>
              <a:cs typeface="Arial MT"/>
            </a:endParaRPr>
          </a:p>
          <a:p>
            <a:pPr marL="775335" lvl="1" indent="-227329">
              <a:lnSpc>
                <a:spcPct val="100000"/>
              </a:lnSpc>
              <a:spcBef>
                <a:spcPts val="525"/>
              </a:spcBef>
              <a:buChar char="•"/>
              <a:tabLst>
                <a:tab pos="775335" algn="l"/>
                <a:tab pos="77597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each program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own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8086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computer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656D-C1C2-92DE-0C57-B7DC0437C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669"/>
            <a:ext cx="7772400" cy="954531"/>
          </a:xfrm>
        </p:spPr>
        <p:txBody>
          <a:bodyPr/>
          <a:lstStyle/>
          <a:p>
            <a:r>
              <a:rPr lang="en-US" dirty="0"/>
              <a:t>Real mode, Protected mode, virtual mode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B40B4-3542-1E77-AAAC-4A00E791E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6E724-7AAF-6A74-F82F-E73B37FC92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84"/>
          <a:stretch/>
        </p:blipFill>
        <p:spPr>
          <a:xfrm>
            <a:off x="1524001" y="1557933"/>
            <a:ext cx="6030870" cy="309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52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58495"/>
            <a:ext cx="5818619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7319" y="264668"/>
            <a:ext cx="5306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</a:t>
            </a:r>
            <a:r>
              <a:rPr spc="-35" dirty="0"/>
              <a:t> </a:t>
            </a:r>
            <a:r>
              <a:rPr spc="-5" dirty="0"/>
              <a:t>Execution</a:t>
            </a:r>
            <a:r>
              <a:rPr spc="-45" dirty="0"/>
              <a:t> </a:t>
            </a:r>
            <a:r>
              <a:rPr spc="-5" dirty="0"/>
              <a:t>Environment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907539" y="1552448"/>
            <a:ext cx="5230495" cy="24396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Addressable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General-purpose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registers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Index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base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registers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Specialized</a:t>
            </a:r>
            <a:r>
              <a:rPr sz="24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register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uses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Status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flags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Floating-point,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MMX,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XMM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registers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299" y="158495"/>
            <a:ext cx="4372355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1250" y="264668"/>
            <a:ext cx="385952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Addressable</a:t>
            </a:r>
            <a:r>
              <a:rPr spc="-105" dirty="0"/>
              <a:t> </a:t>
            </a:r>
            <a:r>
              <a:rPr spc="-5" dirty="0"/>
              <a:t>Memory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6539" y="1552314"/>
            <a:ext cx="5507355" cy="25126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Protected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2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GB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53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32-bit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address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Real-address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Virtual-8086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modes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52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MB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space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53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20-bit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address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7755" y="158495"/>
            <a:ext cx="5455920" cy="902335"/>
            <a:chOff x="1857755" y="158495"/>
            <a:chExt cx="545592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755" y="158495"/>
              <a:ext cx="1981199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2507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8143" y="158495"/>
              <a:ext cx="3875531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98706" y="264668"/>
            <a:ext cx="49434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General-Purpose</a:t>
            </a:r>
            <a:r>
              <a:rPr spc="-85" dirty="0"/>
              <a:t> </a:t>
            </a:r>
            <a:r>
              <a:rPr spc="-5" dirty="0"/>
              <a:t>Registers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681003" y="4468660"/>
            <a:ext cx="1306830" cy="389255"/>
            <a:chOff x="4681003" y="4468660"/>
            <a:chExt cx="1306830" cy="389255"/>
          </a:xfrm>
        </p:grpSpPr>
        <p:sp>
          <p:nvSpPr>
            <p:cNvPr id="8" name="object 8"/>
            <p:cNvSpPr/>
            <p:nvPr/>
          </p:nvSpPr>
          <p:spPr>
            <a:xfrm>
              <a:off x="4683225" y="4777613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5" h="78104">
                  <a:moveTo>
                    <a:pt x="1302046" y="77702"/>
                  </a:moveTo>
                  <a:lnTo>
                    <a:pt x="77551" y="77702"/>
                  </a:lnTo>
                  <a:lnTo>
                    <a:pt x="0" y="0"/>
                  </a:lnTo>
                  <a:lnTo>
                    <a:pt x="1224495" y="0"/>
                  </a:lnTo>
                  <a:lnTo>
                    <a:pt x="1302046" y="7770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83225" y="4777612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5" h="78104">
                  <a:moveTo>
                    <a:pt x="1224495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1302046" y="77704"/>
                  </a:lnTo>
                  <a:lnTo>
                    <a:pt x="1224495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07720" y="4470881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77551" y="77707"/>
                  </a:lnTo>
                  <a:lnTo>
                    <a:pt x="77551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07720" y="4470882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83226" y="4470882"/>
            <a:ext cx="1224915" cy="307340"/>
          </a:xfrm>
          <a:prstGeom prst="rect">
            <a:avLst/>
          </a:prstGeom>
          <a:solidFill>
            <a:srgbClr val="FFFFFF"/>
          </a:solidFill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10"/>
              </a:spcBef>
            </a:pPr>
            <a:r>
              <a:rPr sz="1300" spc="20" dirty="0">
                <a:latin typeface="Arial MT"/>
                <a:cs typeface="Arial MT"/>
              </a:rPr>
              <a:t>CS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81003" y="4775390"/>
            <a:ext cx="1306830" cy="389255"/>
            <a:chOff x="4681003" y="4775390"/>
            <a:chExt cx="1306830" cy="389255"/>
          </a:xfrm>
        </p:grpSpPr>
        <p:sp>
          <p:nvSpPr>
            <p:cNvPr id="14" name="object 14"/>
            <p:cNvSpPr/>
            <p:nvPr/>
          </p:nvSpPr>
          <p:spPr>
            <a:xfrm>
              <a:off x="4683225" y="5084342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5" h="78104">
                  <a:moveTo>
                    <a:pt x="1302046" y="77704"/>
                  </a:moveTo>
                  <a:lnTo>
                    <a:pt x="77551" y="77704"/>
                  </a:lnTo>
                  <a:lnTo>
                    <a:pt x="0" y="0"/>
                  </a:lnTo>
                  <a:lnTo>
                    <a:pt x="1224495" y="0"/>
                  </a:lnTo>
                  <a:lnTo>
                    <a:pt x="1302046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3225" y="5084342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5" h="78104">
                  <a:moveTo>
                    <a:pt x="1224495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1302046" y="77704"/>
                  </a:lnTo>
                  <a:lnTo>
                    <a:pt x="1224495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07720" y="4777612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07720" y="4777612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83224" y="4777612"/>
              <a:ext cx="1224915" cy="307340"/>
            </a:xfrm>
            <a:custGeom>
              <a:avLst/>
              <a:gdLst/>
              <a:ahLst/>
              <a:cxnLst/>
              <a:rect l="l" t="t" r="r" b="b"/>
              <a:pathLst>
                <a:path w="1224914" h="307339">
                  <a:moveTo>
                    <a:pt x="1224495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1224495" y="0"/>
                  </a:lnTo>
                  <a:lnTo>
                    <a:pt x="1224495" y="306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83226" y="4777613"/>
            <a:ext cx="1224915" cy="307340"/>
          </a:xfrm>
          <a:prstGeom prst="rect">
            <a:avLst/>
          </a:prstGeom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10" dirty="0">
                <a:latin typeface="Arial MT"/>
                <a:cs typeface="Arial MT"/>
              </a:rPr>
              <a:t>SS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81180" y="5082301"/>
            <a:ext cx="1306195" cy="388620"/>
            <a:chOff x="4681180" y="5082301"/>
            <a:chExt cx="1306195" cy="388620"/>
          </a:xfrm>
        </p:grpSpPr>
        <p:sp>
          <p:nvSpPr>
            <p:cNvPr id="21" name="object 21"/>
            <p:cNvSpPr/>
            <p:nvPr/>
          </p:nvSpPr>
          <p:spPr>
            <a:xfrm>
              <a:off x="4683224" y="5391074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5" h="78104">
                  <a:moveTo>
                    <a:pt x="1302046" y="77702"/>
                  </a:moveTo>
                  <a:lnTo>
                    <a:pt x="77551" y="77702"/>
                  </a:lnTo>
                  <a:lnTo>
                    <a:pt x="0" y="0"/>
                  </a:lnTo>
                  <a:lnTo>
                    <a:pt x="1224495" y="0"/>
                  </a:lnTo>
                  <a:lnTo>
                    <a:pt x="1302046" y="7770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83225" y="5391072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5" h="78104">
                  <a:moveTo>
                    <a:pt x="1224495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1302046" y="77704"/>
                  </a:lnTo>
                  <a:lnTo>
                    <a:pt x="1224495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07720" y="5084341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77551" y="77707"/>
                  </a:lnTo>
                  <a:lnTo>
                    <a:pt x="77551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07720" y="5084342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83224" y="5084342"/>
              <a:ext cx="1224915" cy="307340"/>
            </a:xfrm>
            <a:custGeom>
              <a:avLst/>
              <a:gdLst/>
              <a:ahLst/>
              <a:cxnLst/>
              <a:rect l="l" t="t" r="r" b="b"/>
              <a:pathLst>
                <a:path w="1224914" h="307339">
                  <a:moveTo>
                    <a:pt x="1224495" y="306732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1224495" y="0"/>
                  </a:lnTo>
                  <a:lnTo>
                    <a:pt x="1224495" y="306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683226" y="5084343"/>
            <a:ext cx="1224915" cy="307340"/>
          </a:xfrm>
          <a:prstGeom prst="rect">
            <a:avLst/>
          </a:prstGeom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10"/>
              </a:spcBef>
            </a:pPr>
            <a:r>
              <a:rPr sz="1300" spc="20" dirty="0">
                <a:latin typeface="Arial MT"/>
                <a:cs typeface="Arial MT"/>
              </a:rPr>
              <a:t>DS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58559" y="4468660"/>
            <a:ext cx="1306830" cy="389255"/>
            <a:chOff x="6058559" y="4468660"/>
            <a:chExt cx="1306830" cy="389255"/>
          </a:xfrm>
        </p:grpSpPr>
        <p:sp>
          <p:nvSpPr>
            <p:cNvPr id="28" name="object 28"/>
            <p:cNvSpPr/>
            <p:nvPr/>
          </p:nvSpPr>
          <p:spPr>
            <a:xfrm>
              <a:off x="6060782" y="4777613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4" h="78104">
                  <a:moveTo>
                    <a:pt x="1302046" y="77704"/>
                  </a:moveTo>
                  <a:lnTo>
                    <a:pt x="77551" y="77704"/>
                  </a:lnTo>
                  <a:lnTo>
                    <a:pt x="0" y="0"/>
                  </a:lnTo>
                  <a:lnTo>
                    <a:pt x="1226535" y="0"/>
                  </a:lnTo>
                  <a:lnTo>
                    <a:pt x="1302046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60782" y="4777612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4" h="78104">
                  <a:moveTo>
                    <a:pt x="1226535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1302046" y="77704"/>
                  </a:lnTo>
                  <a:lnTo>
                    <a:pt x="1226535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87318" y="4470882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87318" y="4470882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060781" y="4470882"/>
            <a:ext cx="1226820" cy="307340"/>
          </a:xfrm>
          <a:prstGeom prst="rect">
            <a:avLst/>
          </a:prstGeom>
          <a:solidFill>
            <a:srgbClr val="FFFFFF"/>
          </a:solidFill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10" dirty="0">
                <a:latin typeface="Arial MT"/>
                <a:cs typeface="Arial MT"/>
              </a:rPr>
              <a:t>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773003" y="4990282"/>
            <a:ext cx="2531110" cy="388620"/>
            <a:chOff x="1773003" y="4990282"/>
            <a:chExt cx="2531110" cy="388620"/>
          </a:xfrm>
        </p:grpSpPr>
        <p:sp>
          <p:nvSpPr>
            <p:cNvPr id="34" name="object 34"/>
            <p:cNvSpPr/>
            <p:nvPr/>
          </p:nvSpPr>
          <p:spPr>
            <a:xfrm>
              <a:off x="1775048" y="5299055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526541" y="77702"/>
                  </a:moveTo>
                  <a:lnTo>
                    <a:pt x="75510" y="77702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526541" y="7770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75048" y="5299054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448990" y="0"/>
                  </a:moveTo>
                  <a:lnTo>
                    <a:pt x="0" y="0"/>
                  </a:lnTo>
                  <a:lnTo>
                    <a:pt x="75510" y="77704"/>
                  </a:lnTo>
                  <a:lnTo>
                    <a:pt x="2526541" y="77704"/>
                  </a:lnTo>
                  <a:lnTo>
                    <a:pt x="2448990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24039" y="4992322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49" y="384435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77549" y="77707"/>
                  </a:lnTo>
                  <a:lnTo>
                    <a:pt x="77549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24039" y="4992323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775049" y="4992323"/>
            <a:ext cx="2449195" cy="307340"/>
          </a:xfrm>
          <a:prstGeom prst="rect">
            <a:avLst/>
          </a:prstGeom>
          <a:solidFill>
            <a:srgbClr val="FFFFFF"/>
          </a:solidFill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10" dirty="0">
                <a:latin typeface="Arial MT"/>
                <a:cs typeface="Arial MT"/>
              </a:rPr>
              <a:t>EIP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773003" y="4464751"/>
            <a:ext cx="2531110" cy="386715"/>
            <a:chOff x="1773003" y="4464751"/>
            <a:chExt cx="2531110" cy="386715"/>
          </a:xfrm>
        </p:grpSpPr>
        <p:sp>
          <p:nvSpPr>
            <p:cNvPr id="40" name="object 40"/>
            <p:cNvSpPr/>
            <p:nvPr/>
          </p:nvSpPr>
          <p:spPr>
            <a:xfrm>
              <a:off x="1775048" y="4773522"/>
              <a:ext cx="2526665" cy="76200"/>
            </a:xfrm>
            <a:custGeom>
              <a:avLst/>
              <a:gdLst/>
              <a:ahLst/>
              <a:cxnLst/>
              <a:rect l="l" t="t" r="r" b="b"/>
              <a:pathLst>
                <a:path w="2526665" h="76200">
                  <a:moveTo>
                    <a:pt x="2526541" y="75660"/>
                  </a:moveTo>
                  <a:lnTo>
                    <a:pt x="75510" y="75660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526541" y="7566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75048" y="4773522"/>
              <a:ext cx="2526665" cy="76200"/>
            </a:xfrm>
            <a:custGeom>
              <a:avLst/>
              <a:gdLst/>
              <a:ahLst/>
              <a:cxnLst/>
              <a:rect l="l" t="t" r="r" b="b"/>
              <a:pathLst>
                <a:path w="2526665" h="76200">
                  <a:moveTo>
                    <a:pt x="2448990" y="0"/>
                  </a:moveTo>
                  <a:lnTo>
                    <a:pt x="0" y="0"/>
                  </a:lnTo>
                  <a:lnTo>
                    <a:pt x="75510" y="75660"/>
                  </a:lnTo>
                  <a:lnTo>
                    <a:pt x="2526541" y="75660"/>
                  </a:lnTo>
                  <a:lnTo>
                    <a:pt x="2448990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24039" y="4466791"/>
              <a:ext cx="78105" cy="382905"/>
            </a:xfrm>
            <a:custGeom>
              <a:avLst/>
              <a:gdLst/>
              <a:ahLst/>
              <a:cxnLst/>
              <a:rect l="l" t="t" r="r" b="b"/>
              <a:pathLst>
                <a:path w="78104" h="382904">
                  <a:moveTo>
                    <a:pt x="77549" y="382392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77549" y="75662"/>
                  </a:lnTo>
                  <a:lnTo>
                    <a:pt x="77549" y="38239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24038" y="4466792"/>
              <a:ext cx="78105" cy="382905"/>
            </a:xfrm>
            <a:custGeom>
              <a:avLst/>
              <a:gdLst/>
              <a:ahLst/>
              <a:cxnLst/>
              <a:rect l="l" t="t" r="r" b="b"/>
              <a:pathLst>
                <a:path w="78104" h="382904">
                  <a:moveTo>
                    <a:pt x="77551" y="38239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5660"/>
                  </a:lnTo>
                  <a:lnTo>
                    <a:pt x="77551" y="382390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775049" y="4466793"/>
            <a:ext cx="2449195" cy="307340"/>
          </a:xfrm>
          <a:prstGeom prst="rect">
            <a:avLst/>
          </a:prstGeom>
          <a:solidFill>
            <a:srgbClr val="FFFFFF"/>
          </a:solidFill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15" dirty="0">
                <a:latin typeface="Arial MT"/>
                <a:cs typeface="Arial MT"/>
              </a:rPr>
              <a:t>EFLAGS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03632" y="4147793"/>
            <a:ext cx="2069464" cy="2292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35"/>
              </a:spcBef>
            </a:pPr>
            <a:r>
              <a:rPr sz="1300" b="1" spc="10" dirty="0">
                <a:latin typeface="Arial"/>
                <a:cs typeface="Arial"/>
              </a:rPr>
              <a:t>16-bit</a:t>
            </a:r>
            <a:r>
              <a:rPr sz="1300" b="1" dirty="0">
                <a:latin typeface="Arial"/>
                <a:cs typeface="Arial"/>
              </a:rPr>
              <a:t> </a:t>
            </a:r>
            <a:r>
              <a:rPr sz="1300" b="1" spc="15" dirty="0">
                <a:latin typeface="Arial"/>
                <a:cs typeface="Arial"/>
              </a:rPr>
              <a:t>Segment</a:t>
            </a:r>
            <a:r>
              <a:rPr sz="1300" b="1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Registers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772826" y="2597605"/>
            <a:ext cx="2531110" cy="381000"/>
            <a:chOff x="1772826" y="2597605"/>
            <a:chExt cx="2531110" cy="381000"/>
          </a:xfrm>
        </p:grpSpPr>
        <p:sp>
          <p:nvSpPr>
            <p:cNvPr id="47" name="object 47"/>
            <p:cNvSpPr/>
            <p:nvPr/>
          </p:nvSpPr>
          <p:spPr>
            <a:xfrm>
              <a:off x="1775048" y="2898378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5">
                  <a:moveTo>
                    <a:pt x="2526541" y="77704"/>
                  </a:moveTo>
                  <a:lnTo>
                    <a:pt x="75510" y="77704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526541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75048" y="2898378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5">
                  <a:moveTo>
                    <a:pt x="2448990" y="0"/>
                  </a:moveTo>
                  <a:lnTo>
                    <a:pt x="0" y="0"/>
                  </a:lnTo>
                  <a:lnTo>
                    <a:pt x="75510" y="77704"/>
                  </a:lnTo>
                  <a:lnTo>
                    <a:pt x="2526541" y="77704"/>
                  </a:lnTo>
                  <a:lnTo>
                    <a:pt x="2448990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224039" y="2599827"/>
              <a:ext cx="78105" cy="376555"/>
            </a:xfrm>
            <a:custGeom>
              <a:avLst/>
              <a:gdLst/>
              <a:ahLst/>
              <a:cxnLst/>
              <a:rect l="l" t="t" r="r" b="b"/>
              <a:pathLst>
                <a:path w="78104" h="376555">
                  <a:moveTo>
                    <a:pt x="77549" y="376255"/>
                  </a:moveTo>
                  <a:lnTo>
                    <a:pt x="0" y="298550"/>
                  </a:lnTo>
                  <a:lnTo>
                    <a:pt x="0" y="0"/>
                  </a:lnTo>
                  <a:lnTo>
                    <a:pt x="77549" y="77704"/>
                  </a:lnTo>
                  <a:lnTo>
                    <a:pt x="77549" y="37625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24038" y="2599828"/>
              <a:ext cx="78105" cy="376555"/>
            </a:xfrm>
            <a:custGeom>
              <a:avLst/>
              <a:gdLst/>
              <a:ahLst/>
              <a:cxnLst/>
              <a:rect l="l" t="t" r="r" b="b"/>
              <a:pathLst>
                <a:path w="78104" h="376555">
                  <a:moveTo>
                    <a:pt x="77551" y="376255"/>
                  </a:moveTo>
                  <a:lnTo>
                    <a:pt x="0" y="29855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7625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775049" y="2599828"/>
            <a:ext cx="2449195" cy="276225"/>
          </a:xfrm>
          <a:prstGeom prst="rect">
            <a:avLst/>
          </a:prstGeom>
          <a:solidFill>
            <a:srgbClr val="FFFFFF"/>
          </a:solidFill>
          <a:ln w="4089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300" spc="10" dirty="0">
                <a:latin typeface="Arial MT"/>
                <a:cs typeface="Arial MT"/>
              </a:rPr>
              <a:t>EAX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772825" y="2873662"/>
            <a:ext cx="2531110" cy="389255"/>
            <a:chOff x="1772825" y="2873662"/>
            <a:chExt cx="2531110" cy="389255"/>
          </a:xfrm>
        </p:grpSpPr>
        <p:sp>
          <p:nvSpPr>
            <p:cNvPr id="53" name="object 53"/>
            <p:cNvSpPr/>
            <p:nvPr/>
          </p:nvSpPr>
          <p:spPr>
            <a:xfrm>
              <a:off x="1775048" y="3182616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526541" y="77702"/>
                  </a:moveTo>
                  <a:lnTo>
                    <a:pt x="75510" y="77702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526541" y="7770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75048" y="3182615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448990" y="0"/>
                  </a:moveTo>
                  <a:lnTo>
                    <a:pt x="0" y="0"/>
                  </a:lnTo>
                  <a:lnTo>
                    <a:pt x="75510" y="77704"/>
                  </a:lnTo>
                  <a:lnTo>
                    <a:pt x="2526541" y="77704"/>
                  </a:lnTo>
                  <a:lnTo>
                    <a:pt x="2448990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24037" y="2875885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224038" y="2875885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75047" y="2875885"/>
              <a:ext cx="2449195" cy="307340"/>
            </a:xfrm>
            <a:custGeom>
              <a:avLst/>
              <a:gdLst/>
              <a:ahLst/>
              <a:cxnLst/>
              <a:rect l="l" t="t" r="r" b="b"/>
              <a:pathLst>
                <a:path w="2449195" h="307339">
                  <a:moveTo>
                    <a:pt x="2448990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448990" y="306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75049" y="2875885"/>
              <a:ext cx="2449195" cy="307340"/>
            </a:xfrm>
            <a:custGeom>
              <a:avLst/>
              <a:gdLst/>
              <a:ahLst/>
              <a:cxnLst/>
              <a:rect l="l" t="t" r="r" b="b"/>
              <a:pathLst>
                <a:path w="2449195" h="307339">
                  <a:moveTo>
                    <a:pt x="2448990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448990" y="30673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777094" y="2897948"/>
            <a:ext cx="244538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00" spc="10" dirty="0">
                <a:latin typeface="Arial MT"/>
                <a:cs typeface="Arial MT"/>
              </a:rPr>
              <a:t>EBX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772825" y="3170168"/>
            <a:ext cx="2531110" cy="389255"/>
            <a:chOff x="1772825" y="3170168"/>
            <a:chExt cx="2531110" cy="389255"/>
          </a:xfrm>
        </p:grpSpPr>
        <p:sp>
          <p:nvSpPr>
            <p:cNvPr id="61" name="object 61"/>
            <p:cNvSpPr/>
            <p:nvPr/>
          </p:nvSpPr>
          <p:spPr>
            <a:xfrm>
              <a:off x="1775047" y="3479120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526541" y="77704"/>
                  </a:moveTo>
                  <a:lnTo>
                    <a:pt x="75510" y="77704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526541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75048" y="3479120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448990" y="0"/>
                  </a:moveTo>
                  <a:lnTo>
                    <a:pt x="0" y="0"/>
                  </a:lnTo>
                  <a:lnTo>
                    <a:pt x="75510" y="77704"/>
                  </a:lnTo>
                  <a:lnTo>
                    <a:pt x="2526541" y="77704"/>
                  </a:lnTo>
                  <a:lnTo>
                    <a:pt x="2448990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224037" y="3172389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7"/>
                  </a:lnTo>
                  <a:lnTo>
                    <a:pt x="77551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24038" y="3172390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75046" y="3172390"/>
              <a:ext cx="2449195" cy="307340"/>
            </a:xfrm>
            <a:custGeom>
              <a:avLst/>
              <a:gdLst/>
              <a:ahLst/>
              <a:cxnLst/>
              <a:rect l="l" t="t" r="r" b="b"/>
              <a:pathLst>
                <a:path w="2449195" h="307339">
                  <a:moveTo>
                    <a:pt x="2448990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448990" y="306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75048" y="3172390"/>
              <a:ext cx="2449195" cy="307340"/>
            </a:xfrm>
            <a:custGeom>
              <a:avLst/>
              <a:gdLst/>
              <a:ahLst/>
              <a:cxnLst/>
              <a:rect l="l" t="t" r="r" b="b"/>
              <a:pathLst>
                <a:path w="2449195" h="307339">
                  <a:moveTo>
                    <a:pt x="2448990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448990" y="30673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777094" y="3194453"/>
            <a:ext cx="244538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ECX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773003" y="3477079"/>
            <a:ext cx="2531110" cy="388620"/>
            <a:chOff x="1773003" y="3477079"/>
            <a:chExt cx="2531110" cy="388620"/>
          </a:xfrm>
        </p:grpSpPr>
        <p:sp>
          <p:nvSpPr>
            <p:cNvPr id="69" name="object 69"/>
            <p:cNvSpPr/>
            <p:nvPr/>
          </p:nvSpPr>
          <p:spPr>
            <a:xfrm>
              <a:off x="1775048" y="3785851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526541" y="77704"/>
                  </a:moveTo>
                  <a:lnTo>
                    <a:pt x="75510" y="77704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526541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75047" y="3785850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448990" y="0"/>
                  </a:moveTo>
                  <a:lnTo>
                    <a:pt x="0" y="0"/>
                  </a:lnTo>
                  <a:lnTo>
                    <a:pt x="75510" y="77704"/>
                  </a:lnTo>
                  <a:lnTo>
                    <a:pt x="2526541" y="77704"/>
                  </a:lnTo>
                  <a:lnTo>
                    <a:pt x="2448990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224037" y="3479120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224037" y="3479120"/>
              <a:ext cx="78105" cy="384810"/>
            </a:xfrm>
            <a:custGeom>
              <a:avLst/>
              <a:gdLst/>
              <a:ahLst/>
              <a:cxnLst/>
              <a:rect l="l" t="t" r="r" b="b"/>
              <a:pathLst>
                <a:path w="78104" h="384810">
                  <a:moveTo>
                    <a:pt x="77551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7551" y="77704"/>
                  </a:lnTo>
                  <a:lnTo>
                    <a:pt x="77551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775046" y="3479120"/>
              <a:ext cx="2449195" cy="307340"/>
            </a:xfrm>
            <a:custGeom>
              <a:avLst/>
              <a:gdLst/>
              <a:ahLst/>
              <a:cxnLst/>
              <a:rect l="l" t="t" r="r" b="b"/>
              <a:pathLst>
                <a:path w="2449195" h="307339">
                  <a:moveTo>
                    <a:pt x="2448990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2448990" y="0"/>
                  </a:lnTo>
                  <a:lnTo>
                    <a:pt x="2448990" y="306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775049" y="3479120"/>
            <a:ext cx="2449195" cy="307340"/>
          </a:xfrm>
          <a:prstGeom prst="rect">
            <a:avLst/>
          </a:prstGeom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10"/>
              </a:spcBef>
            </a:pPr>
            <a:r>
              <a:rPr sz="1300" spc="15" dirty="0">
                <a:latin typeface="Arial MT"/>
                <a:cs typeface="Arial MT"/>
              </a:rPr>
              <a:t>EDX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942400" y="2205168"/>
            <a:ext cx="2718435" cy="2292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35"/>
              </a:spcBef>
            </a:pPr>
            <a:r>
              <a:rPr sz="1300" b="1" spc="10" dirty="0">
                <a:latin typeface="Arial"/>
                <a:cs typeface="Arial"/>
              </a:rPr>
              <a:t>32-bit</a:t>
            </a:r>
            <a:r>
              <a:rPr sz="1300" b="1" spc="-5" dirty="0">
                <a:latin typeface="Arial"/>
                <a:cs typeface="Arial"/>
              </a:rPr>
              <a:t> </a:t>
            </a:r>
            <a:r>
              <a:rPr sz="1300" b="1" spc="15" dirty="0">
                <a:latin typeface="Arial"/>
                <a:cs typeface="Arial"/>
              </a:rPr>
              <a:t>General-Purpose</a:t>
            </a:r>
            <a:r>
              <a:rPr sz="1300" b="1" spc="-10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Registers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058557" y="4775389"/>
            <a:ext cx="1306830" cy="389255"/>
            <a:chOff x="6058557" y="4775389"/>
            <a:chExt cx="1306830" cy="389255"/>
          </a:xfrm>
        </p:grpSpPr>
        <p:sp>
          <p:nvSpPr>
            <p:cNvPr id="77" name="object 77"/>
            <p:cNvSpPr/>
            <p:nvPr/>
          </p:nvSpPr>
          <p:spPr>
            <a:xfrm>
              <a:off x="6060780" y="5084343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4" h="78104">
                  <a:moveTo>
                    <a:pt x="1302046" y="77702"/>
                  </a:moveTo>
                  <a:lnTo>
                    <a:pt x="77551" y="77702"/>
                  </a:lnTo>
                  <a:lnTo>
                    <a:pt x="0" y="0"/>
                  </a:lnTo>
                  <a:lnTo>
                    <a:pt x="1226535" y="0"/>
                  </a:lnTo>
                  <a:lnTo>
                    <a:pt x="1302046" y="7770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060780" y="5084341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4" h="78104">
                  <a:moveTo>
                    <a:pt x="1226535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1302046" y="77704"/>
                  </a:lnTo>
                  <a:lnTo>
                    <a:pt x="1226535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287316" y="4777610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75510" y="77707"/>
                  </a:lnTo>
                  <a:lnTo>
                    <a:pt x="75510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287316" y="4777611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060778" y="4777611"/>
              <a:ext cx="1226820" cy="307340"/>
            </a:xfrm>
            <a:custGeom>
              <a:avLst/>
              <a:gdLst/>
              <a:ahLst/>
              <a:cxnLst/>
              <a:rect l="l" t="t" r="r" b="b"/>
              <a:pathLst>
                <a:path w="1226820" h="307339">
                  <a:moveTo>
                    <a:pt x="1226535" y="306732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1226535" y="0"/>
                  </a:lnTo>
                  <a:lnTo>
                    <a:pt x="1226535" y="306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060781" y="4777612"/>
            <a:ext cx="1226820" cy="307340"/>
          </a:xfrm>
          <a:prstGeom prst="rect">
            <a:avLst/>
          </a:prstGeom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20" dirty="0">
                <a:latin typeface="Arial MT"/>
                <a:cs typeface="Arial MT"/>
              </a:rPr>
              <a:t>FS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058734" y="5082300"/>
            <a:ext cx="1306195" cy="388620"/>
            <a:chOff x="6058734" y="5082300"/>
            <a:chExt cx="1306195" cy="388620"/>
          </a:xfrm>
        </p:grpSpPr>
        <p:sp>
          <p:nvSpPr>
            <p:cNvPr id="84" name="object 84"/>
            <p:cNvSpPr/>
            <p:nvPr/>
          </p:nvSpPr>
          <p:spPr>
            <a:xfrm>
              <a:off x="6060779" y="5391072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4" h="78104">
                  <a:moveTo>
                    <a:pt x="1302046" y="77704"/>
                  </a:moveTo>
                  <a:lnTo>
                    <a:pt x="77551" y="77704"/>
                  </a:lnTo>
                  <a:lnTo>
                    <a:pt x="0" y="0"/>
                  </a:lnTo>
                  <a:lnTo>
                    <a:pt x="1226533" y="0"/>
                  </a:lnTo>
                  <a:lnTo>
                    <a:pt x="1302046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060779" y="5391071"/>
              <a:ext cx="1302385" cy="78105"/>
            </a:xfrm>
            <a:custGeom>
              <a:avLst/>
              <a:gdLst/>
              <a:ahLst/>
              <a:cxnLst/>
              <a:rect l="l" t="t" r="r" b="b"/>
              <a:pathLst>
                <a:path w="1302384" h="78104">
                  <a:moveTo>
                    <a:pt x="1226535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1302046" y="77704"/>
                  </a:lnTo>
                  <a:lnTo>
                    <a:pt x="1226535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287314" y="5084341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87315" y="5084341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060780" y="5084341"/>
              <a:ext cx="1226820" cy="307340"/>
            </a:xfrm>
            <a:custGeom>
              <a:avLst/>
              <a:gdLst/>
              <a:ahLst/>
              <a:cxnLst/>
              <a:rect l="l" t="t" r="r" b="b"/>
              <a:pathLst>
                <a:path w="1226820" h="307339">
                  <a:moveTo>
                    <a:pt x="1226535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1226535" y="0"/>
                  </a:lnTo>
                  <a:lnTo>
                    <a:pt x="1226535" y="306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6060781" y="5084341"/>
            <a:ext cx="1226820" cy="307340"/>
          </a:xfrm>
          <a:prstGeom prst="rect">
            <a:avLst/>
          </a:prstGeom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25" dirty="0">
                <a:latin typeface="Arial MT"/>
                <a:cs typeface="Arial MT"/>
              </a:rPr>
              <a:t>GS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4680999" y="2597605"/>
            <a:ext cx="2531110" cy="381000"/>
            <a:chOff x="4680999" y="2597605"/>
            <a:chExt cx="2531110" cy="381000"/>
          </a:xfrm>
        </p:grpSpPr>
        <p:sp>
          <p:nvSpPr>
            <p:cNvPr id="91" name="object 91"/>
            <p:cNvSpPr/>
            <p:nvPr/>
          </p:nvSpPr>
          <p:spPr>
            <a:xfrm>
              <a:off x="4683221" y="2898378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5">
                  <a:moveTo>
                    <a:pt x="2526541" y="77704"/>
                  </a:moveTo>
                  <a:lnTo>
                    <a:pt x="77551" y="77704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526541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683222" y="2898378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5">
                  <a:moveTo>
                    <a:pt x="2451031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2526541" y="77704"/>
                  </a:lnTo>
                  <a:lnTo>
                    <a:pt x="2451031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134253" y="2599827"/>
              <a:ext cx="75565" cy="376555"/>
            </a:xfrm>
            <a:custGeom>
              <a:avLst/>
              <a:gdLst/>
              <a:ahLst/>
              <a:cxnLst/>
              <a:rect l="l" t="t" r="r" b="b"/>
              <a:pathLst>
                <a:path w="75565" h="376555">
                  <a:moveTo>
                    <a:pt x="75510" y="376255"/>
                  </a:moveTo>
                  <a:lnTo>
                    <a:pt x="0" y="29855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7625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134253" y="2599827"/>
              <a:ext cx="75565" cy="376555"/>
            </a:xfrm>
            <a:custGeom>
              <a:avLst/>
              <a:gdLst/>
              <a:ahLst/>
              <a:cxnLst/>
              <a:rect l="l" t="t" r="r" b="b"/>
              <a:pathLst>
                <a:path w="75565" h="376555">
                  <a:moveTo>
                    <a:pt x="75510" y="376255"/>
                  </a:moveTo>
                  <a:lnTo>
                    <a:pt x="0" y="29855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7625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683223" y="2599827"/>
              <a:ext cx="2451100" cy="299085"/>
            </a:xfrm>
            <a:custGeom>
              <a:avLst/>
              <a:gdLst/>
              <a:ahLst/>
              <a:cxnLst/>
              <a:rect l="l" t="t" r="r" b="b"/>
              <a:pathLst>
                <a:path w="2451100" h="299085">
                  <a:moveTo>
                    <a:pt x="2451031" y="298550"/>
                  </a:moveTo>
                  <a:lnTo>
                    <a:pt x="0" y="298550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451031" y="29855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4685268" y="2601872"/>
            <a:ext cx="2447290" cy="2908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300" spc="10" dirty="0">
                <a:latin typeface="Arial MT"/>
                <a:cs typeface="Arial MT"/>
              </a:rPr>
              <a:t>EBP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4681000" y="2887975"/>
            <a:ext cx="2531110" cy="387350"/>
            <a:chOff x="4681000" y="2887975"/>
            <a:chExt cx="2531110" cy="387350"/>
          </a:xfrm>
        </p:grpSpPr>
        <p:sp>
          <p:nvSpPr>
            <p:cNvPr id="98" name="object 98"/>
            <p:cNvSpPr/>
            <p:nvPr/>
          </p:nvSpPr>
          <p:spPr>
            <a:xfrm>
              <a:off x="4683222" y="3194883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526541" y="77704"/>
                  </a:moveTo>
                  <a:lnTo>
                    <a:pt x="77551" y="77704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526541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83222" y="3194883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451031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2526541" y="77704"/>
                  </a:lnTo>
                  <a:lnTo>
                    <a:pt x="2451031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134253" y="2890197"/>
              <a:ext cx="75565" cy="382905"/>
            </a:xfrm>
            <a:custGeom>
              <a:avLst/>
              <a:gdLst/>
              <a:ahLst/>
              <a:cxnLst/>
              <a:rect l="l" t="t" r="r" b="b"/>
              <a:pathLst>
                <a:path w="75565" h="382904">
                  <a:moveTo>
                    <a:pt x="75510" y="382390"/>
                  </a:moveTo>
                  <a:lnTo>
                    <a:pt x="0" y="304685"/>
                  </a:lnTo>
                  <a:lnTo>
                    <a:pt x="0" y="0"/>
                  </a:lnTo>
                  <a:lnTo>
                    <a:pt x="75510" y="75662"/>
                  </a:lnTo>
                  <a:lnTo>
                    <a:pt x="75510" y="38239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134253" y="2890198"/>
              <a:ext cx="75565" cy="382905"/>
            </a:xfrm>
            <a:custGeom>
              <a:avLst/>
              <a:gdLst/>
              <a:ahLst/>
              <a:cxnLst/>
              <a:rect l="l" t="t" r="r" b="b"/>
              <a:pathLst>
                <a:path w="75565" h="382904">
                  <a:moveTo>
                    <a:pt x="75510" y="382390"/>
                  </a:moveTo>
                  <a:lnTo>
                    <a:pt x="0" y="304685"/>
                  </a:lnTo>
                  <a:lnTo>
                    <a:pt x="0" y="0"/>
                  </a:lnTo>
                  <a:lnTo>
                    <a:pt x="75510" y="75660"/>
                  </a:lnTo>
                  <a:lnTo>
                    <a:pt x="75510" y="382390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683221" y="2890198"/>
              <a:ext cx="2451100" cy="304800"/>
            </a:xfrm>
            <a:custGeom>
              <a:avLst/>
              <a:gdLst/>
              <a:ahLst/>
              <a:cxnLst/>
              <a:rect l="l" t="t" r="r" b="b"/>
              <a:pathLst>
                <a:path w="2451100" h="304800">
                  <a:moveTo>
                    <a:pt x="2451031" y="304685"/>
                  </a:moveTo>
                  <a:lnTo>
                    <a:pt x="0" y="304685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451031" y="3046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683223" y="2890198"/>
              <a:ext cx="2451100" cy="304800"/>
            </a:xfrm>
            <a:custGeom>
              <a:avLst/>
              <a:gdLst/>
              <a:ahLst/>
              <a:cxnLst/>
              <a:rect l="l" t="t" r="r" b="b"/>
              <a:pathLst>
                <a:path w="2451100" h="304800">
                  <a:moveTo>
                    <a:pt x="2451031" y="304685"/>
                  </a:moveTo>
                  <a:lnTo>
                    <a:pt x="0" y="304685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451031" y="304685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4685268" y="2912260"/>
            <a:ext cx="244729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00" spc="10" dirty="0">
                <a:latin typeface="Arial MT"/>
                <a:cs typeface="Arial MT"/>
              </a:rPr>
              <a:t>ESP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4681000" y="3192660"/>
            <a:ext cx="2531110" cy="389255"/>
            <a:chOff x="4681000" y="3192660"/>
            <a:chExt cx="2531110" cy="389255"/>
          </a:xfrm>
        </p:grpSpPr>
        <p:sp>
          <p:nvSpPr>
            <p:cNvPr id="106" name="object 106"/>
            <p:cNvSpPr/>
            <p:nvPr/>
          </p:nvSpPr>
          <p:spPr>
            <a:xfrm>
              <a:off x="4683222" y="3501614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526541" y="77702"/>
                  </a:moveTo>
                  <a:lnTo>
                    <a:pt x="77551" y="77702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526541" y="7770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683222" y="3501613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451031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2526541" y="77704"/>
                  </a:lnTo>
                  <a:lnTo>
                    <a:pt x="2451031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134253" y="3194881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75510" y="77707"/>
                  </a:lnTo>
                  <a:lnTo>
                    <a:pt x="75510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134253" y="3194883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683221" y="3194881"/>
              <a:ext cx="2451100" cy="307340"/>
            </a:xfrm>
            <a:custGeom>
              <a:avLst/>
              <a:gdLst/>
              <a:ahLst/>
              <a:cxnLst/>
              <a:rect l="l" t="t" r="r" b="b"/>
              <a:pathLst>
                <a:path w="2451100" h="307339">
                  <a:moveTo>
                    <a:pt x="2451031" y="306732"/>
                  </a:moveTo>
                  <a:lnTo>
                    <a:pt x="0" y="306732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451031" y="306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4683223" y="3194883"/>
            <a:ext cx="2451100" cy="307340"/>
          </a:xfrm>
          <a:prstGeom prst="rect">
            <a:avLst/>
          </a:prstGeom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5" dirty="0">
                <a:latin typeface="Arial MT"/>
                <a:cs typeface="Arial MT"/>
              </a:rPr>
              <a:t>ESI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4681177" y="3499572"/>
            <a:ext cx="2531110" cy="388620"/>
            <a:chOff x="4681177" y="3499572"/>
            <a:chExt cx="2531110" cy="388620"/>
          </a:xfrm>
        </p:grpSpPr>
        <p:sp>
          <p:nvSpPr>
            <p:cNvPr id="113" name="object 113"/>
            <p:cNvSpPr/>
            <p:nvPr/>
          </p:nvSpPr>
          <p:spPr>
            <a:xfrm>
              <a:off x="4683221" y="3808343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526541" y="77704"/>
                  </a:moveTo>
                  <a:lnTo>
                    <a:pt x="77551" y="77704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526541" y="77704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683221" y="3808343"/>
              <a:ext cx="2526665" cy="78105"/>
            </a:xfrm>
            <a:custGeom>
              <a:avLst/>
              <a:gdLst/>
              <a:ahLst/>
              <a:cxnLst/>
              <a:rect l="l" t="t" r="r" b="b"/>
              <a:pathLst>
                <a:path w="2526665" h="78104">
                  <a:moveTo>
                    <a:pt x="2451031" y="0"/>
                  </a:moveTo>
                  <a:lnTo>
                    <a:pt x="0" y="0"/>
                  </a:lnTo>
                  <a:lnTo>
                    <a:pt x="77551" y="77704"/>
                  </a:lnTo>
                  <a:lnTo>
                    <a:pt x="2526541" y="77704"/>
                  </a:lnTo>
                  <a:lnTo>
                    <a:pt x="2451031" y="0"/>
                  </a:lnTo>
                  <a:close/>
                </a:path>
              </a:pathLst>
            </a:custGeom>
            <a:ln w="4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134252" y="3501612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134252" y="3501613"/>
              <a:ext cx="75565" cy="384810"/>
            </a:xfrm>
            <a:custGeom>
              <a:avLst/>
              <a:gdLst/>
              <a:ahLst/>
              <a:cxnLst/>
              <a:rect l="l" t="t" r="r" b="b"/>
              <a:pathLst>
                <a:path w="75565" h="384810">
                  <a:moveTo>
                    <a:pt x="75510" y="384435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75510" y="77704"/>
                  </a:lnTo>
                  <a:lnTo>
                    <a:pt x="75510" y="384435"/>
                  </a:lnTo>
                  <a:close/>
                </a:path>
              </a:pathLst>
            </a:custGeom>
            <a:ln w="40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683220" y="3501613"/>
              <a:ext cx="2451100" cy="307340"/>
            </a:xfrm>
            <a:custGeom>
              <a:avLst/>
              <a:gdLst/>
              <a:ahLst/>
              <a:cxnLst/>
              <a:rect l="l" t="t" r="r" b="b"/>
              <a:pathLst>
                <a:path w="2451100" h="307339">
                  <a:moveTo>
                    <a:pt x="2451031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2451031" y="0"/>
                  </a:lnTo>
                  <a:lnTo>
                    <a:pt x="2451031" y="3067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4683223" y="3501613"/>
            <a:ext cx="2451100" cy="307340"/>
          </a:xfrm>
          <a:prstGeom prst="rect">
            <a:avLst/>
          </a:prstGeom>
          <a:ln w="4089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300" spc="15" dirty="0">
                <a:latin typeface="Arial MT"/>
                <a:cs typeface="Arial MT"/>
              </a:rPr>
              <a:t>EDI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0" name="object 1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121" name="object 1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119" name="object 119"/>
          <p:cNvSpPr txBox="1"/>
          <p:nvPr/>
        </p:nvSpPr>
        <p:spPr>
          <a:xfrm>
            <a:off x="1069339" y="1259840"/>
            <a:ext cx="64909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Named storage locations inside the CPU, optimized for </a:t>
            </a:r>
            <a:r>
              <a:rPr sz="2100" spc="-5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speed.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19" y="158495"/>
            <a:ext cx="5728714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3070" y="264668"/>
            <a:ext cx="52165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Accessing</a:t>
            </a:r>
            <a:r>
              <a:rPr spc="-50" dirty="0"/>
              <a:t> </a:t>
            </a:r>
            <a:r>
              <a:rPr spc="-5" dirty="0"/>
              <a:t>Parts</a:t>
            </a:r>
            <a:r>
              <a:rPr spc="-35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5" dirty="0"/>
              <a:t>Registers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095248"/>
            <a:ext cx="635063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Use 8-bit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name,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16-bit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name,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32-bit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name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Applies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EAX,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EBX,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ECX,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and EDX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67000" y="2209800"/>
            <a:ext cx="3657600" cy="1981200"/>
            <a:chOff x="2667000" y="2209800"/>
            <a:chExt cx="3657600" cy="1981200"/>
          </a:xfrm>
        </p:grpSpPr>
        <p:sp>
          <p:nvSpPr>
            <p:cNvPr id="6" name="object 6"/>
            <p:cNvSpPr/>
            <p:nvPr/>
          </p:nvSpPr>
          <p:spPr>
            <a:xfrm>
              <a:off x="2667000" y="2209800"/>
              <a:ext cx="3657600" cy="1981200"/>
            </a:xfrm>
            <a:custGeom>
              <a:avLst/>
              <a:gdLst/>
              <a:ahLst/>
              <a:cxnLst/>
              <a:rect l="l" t="t" r="r" b="b"/>
              <a:pathLst>
                <a:path w="3657600" h="1981200">
                  <a:moveTo>
                    <a:pt x="3657600" y="0"/>
                  </a:moveTo>
                  <a:lnTo>
                    <a:pt x="0" y="0"/>
                  </a:lnTo>
                  <a:lnTo>
                    <a:pt x="0" y="1981200"/>
                  </a:lnTo>
                  <a:lnTo>
                    <a:pt x="3657600" y="198120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79404" y="2788121"/>
              <a:ext cx="681355" cy="74930"/>
            </a:xfrm>
            <a:custGeom>
              <a:avLst/>
              <a:gdLst/>
              <a:ahLst/>
              <a:cxnLst/>
              <a:rect l="l" t="t" r="r" b="b"/>
              <a:pathLst>
                <a:path w="681354" h="74930">
                  <a:moveTo>
                    <a:pt x="680733" y="74817"/>
                  </a:moveTo>
                  <a:lnTo>
                    <a:pt x="74739" y="74817"/>
                  </a:lnTo>
                  <a:lnTo>
                    <a:pt x="0" y="0"/>
                  </a:lnTo>
                  <a:lnTo>
                    <a:pt x="605993" y="0"/>
                  </a:lnTo>
                  <a:lnTo>
                    <a:pt x="680733" y="74817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79404" y="2788122"/>
              <a:ext cx="681355" cy="74930"/>
            </a:xfrm>
            <a:custGeom>
              <a:avLst/>
              <a:gdLst/>
              <a:ahLst/>
              <a:cxnLst/>
              <a:rect l="l" t="t" r="r" b="b"/>
              <a:pathLst>
                <a:path w="681354" h="74930">
                  <a:moveTo>
                    <a:pt x="605993" y="0"/>
                  </a:moveTo>
                  <a:lnTo>
                    <a:pt x="0" y="0"/>
                  </a:lnTo>
                  <a:lnTo>
                    <a:pt x="74739" y="74817"/>
                  </a:lnTo>
                  <a:lnTo>
                    <a:pt x="680733" y="74817"/>
                  </a:lnTo>
                  <a:lnTo>
                    <a:pt x="605993" y="0"/>
                  </a:lnTo>
                  <a:close/>
                </a:path>
              </a:pathLst>
            </a:custGeom>
            <a:ln w="40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85397" y="2484807"/>
              <a:ext cx="74930" cy="378460"/>
            </a:xfrm>
            <a:custGeom>
              <a:avLst/>
              <a:gdLst/>
              <a:ahLst/>
              <a:cxnLst/>
              <a:rect l="l" t="t" r="r" b="b"/>
              <a:pathLst>
                <a:path w="74929" h="378460">
                  <a:moveTo>
                    <a:pt x="74739" y="378131"/>
                  </a:moveTo>
                  <a:lnTo>
                    <a:pt x="0" y="303313"/>
                  </a:lnTo>
                  <a:lnTo>
                    <a:pt x="0" y="0"/>
                  </a:lnTo>
                  <a:lnTo>
                    <a:pt x="74739" y="74815"/>
                  </a:lnTo>
                  <a:lnTo>
                    <a:pt x="74739" y="378131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5398" y="2484806"/>
              <a:ext cx="74930" cy="378460"/>
            </a:xfrm>
            <a:custGeom>
              <a:avLst/>
              <a:gdLst/>
              <a:ahLst/>
              <a:cxnLst/>
              <a:rect l="l" t="t" r="r" b="b"/>
              <a:pathLst>
                <a:path w="74929" h="378460">
                  <a:moveTo>
                    <a:pt x="74739" y="378133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74739" y="74817"/>
                  </a:lnTo>
                  <a:lnTo>
                    <a:pt x="74739" y="378133"/>
                  </a:lnTo>
                  <a:close/>
                </a:path>
              </a:pathLst>
            </a:custGeom>
            <a:ln w="40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79405" y="2484806"/>
              <a:ext cx="606425" cy="303530"/>
            </a:xfrm>
            <a:custGeom>
              <a:avLst/>
              <a:gdLst/>
              <a:ahLst/>
              <a:cxnLst/>
              <a:rect l="l" t="t" r="r" b="b"/>
              <a:pathLst>
                <a:path w="606425" h="303530">
                  <a:moveTo>
                    <a:pt x="605993" y="303313"/>
                  </a:moveTo>
                  <a:lnTo>
                    <a:pt x="0" y="303313"/>
                  </a:lnTo>
                  <a:lnTo>
                    <a:pt x="0" y="0"/>
                  </a:lnTo>
                  <a:lnTo>
                    <a:pt x="605993" y="0"/>
                  </a:lnTo>
                  <a:lnTo>
                    <a:pt x="605993" y="303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79403" y="2484806"/>
              <a:ext cx="606425" cy="303530"/>
            </a:xfrm>
            <a:custGeom>
              <a:avLst/>
              <a:gdLst/>
              <a:ahLst/>
              <a:cxnLst/>
              <a:rect l="l" t="t" r="r" b="b"/>
              <a:pathLst>
                <a:path w="606425" h="303530">
                  <a:moveTo>
                    <a:pt x="605993" y="30331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605993" y="0"/>
                  </a:lnTo>
                  <a:lnTo>
                    <a:pt x="605993" y="303315"/>
                  </a:lnTo>
                  <a:close/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85397" y="2788121"/>
              <a:ext cx="681355" cy="74930"/>
            </a:xfrm>
            <a:custGeom>
              <a:avLst/>
              <a:gdLst/>
              <a:ahLst/>
              <a:cxnLst/>
              <a:rect l="l" t="t" r="r" b="b"/>
              <a:pathLst>
                <a:path w="681354" h="74930">
                  <a:moveTo>
                    <a:pt x="680733" y="74817"/>
                  </a:moveTo>
                  <a:lnTo>
                    <a:pt x="74739" y="74817"/>
                  </a:lnTo>
                  <a:lnTo>
                    <a:pt x="0" y="0"/>
                  </a:lnTo>
                  <a:lnTo>
                    <a:pt x="605993" y="0"/>
                  </a:lnTo>
                  <a:lnTo>
                    <a:pt x="680733" y="74817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85398" y="2788122"/>
              <a:ext cx="681355" cy="74930"/>
            </a:xfrm>
            <a:custGeom>
              <a:avLst/>
              <a:gdLst/>
              <a:ahLst/>
              <a:cxnLst/>
              <a:rect l="l" t="t" r="r" b="b"/>
              <a:pathLst>
                <a:path w="681354" h="74930">
                  <a:moveTo>
                    <a:pt x="605993" y="0"/>
                  </a:moveTo>
                  <a:lnTo>
                    <a:pt x="0" y="0"/>
                  </a:lnTo>
                  <a:lnTo>
                    <a:pt x="74739" y="74817"/>
                  </a:lnTo>
                  <a:lnTo>
                    <a:pt x="680733" y="74817"/>
                  </a:lnTo>
                  <a:lnTo>
                    <a:pt x="605993" y="0"/>
                  </a:lnTo>
                  <a:close/>
                </a:path>
              </a:pathLst>
            </a:custGeom>
            <a:ln w="40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91390" y="2484807"/>
              <a:ext cx="74930" cy="378460"/>
            </a:xfrm>
            <a:custGeom>
              <a:avLst/>
              <a:gdLst/>
              <a:ahLst/>
              <a:cxnLst/>
              <a:rect l="l" t="t" r="r" b="b"/>
              <a:pathLst>
                <a:path w="74929" h="378460">
                  <a:moveTo>
                    <a:pt x="74741" y="378131"/>
                  </a:moveTo>
                  <a:lnTo>
                    <a:pt x="0" y="303313"/>
                  </a:lnTo>
                  <a:lnTo>
                    <a:pt x="0" y="0"/>
                  </a:lnTo>
                  <a:lnTo>
                    <a:pt x="74741" y="74815"/>
                  </a:lnTo>
                  <a:lnTo>
                    <a:pt x="74741" y="378131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1391" y="2484806"/>
              <a:ext cx="74930" cy="378460"/>
            </a:xfrm>
            <a:custGeom>
              <a:avLst/>
              <a:gdLst/>
              <a:ahLst/>
              <a:cxnLst/>
              <a:rect l="l" t="t" r="r" b="b"/>
              <a:pathLst>
                <a:path w="74929" h="378460">
                  <a:moveTo>
                    <a:pt x="74739" y="378133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74739" y="74817"/>
                  </a:lnTo>
                  <a:lnTo>
                    <a:pt x="74739" y="378133"/>
                  </a:lnTo>
                  <a:close/>
                </a:path>
              </a:pathLst>
            </a:custGeom>
            <a:ln w="40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85396" y="2484806"/>
              <a:ext cx="606425" cy="303530"/>
            </a:xfrm>
            <a:custGeom>
              <a:avLst/>
              <a:gdLst/>
              <a:ahLst/>
              <a:cxnLst/>
              <a:rect l="l" t="t" r="r" b="b"/>
              <a:pathLst>
                <a:path w="606425" h="303530">
                  <a:moveTo>
                    <a:pt x="605993" y="303313"/>
                  </a:moveTo>
                  <a:lnTo>
                    <a:pt x="0" y="303313"/>
                  </a:lnTo>
                  <a:lnTo>
                    <a:pt x="0" y="0"/>
                  </a:lnTo>
                  <a:lnTo>
                    <a:pt x="605993" y="0"/>
                  </a:lnTo>
                  <a:lnTo>
                    <a:pt x="605993" y="303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5396" y="2484806"/>
              <a:ext cx="606425" cy="303530"/>
            </a:xfrm>
            <a:custGeom>
              <a:avLst/>
              <a:gdLst/>
              <a:ahLst/>
              <a:cxnLst/>
              <a:rect l="l" t="t" r="r" b="b"/>
              <a:pathLst>
                <a:path w="606425" h="303530">
                  <a:moveTo>
                    <a:pt x="605993" y="30331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605993" y="0"/>
                  </a:lnTo>
                  <a:lnTo>
                    <a:pt x="605993" y="303315"/>
                  </a:lnTo>
                  <a:close/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67127" y="3177822"/>
            <a:ext cx="41211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5" dirty="0">
                <a:latin typeface="Arial MT"/>
                <a:cs typeface="Arial MT"/>
              </a:rPr>
              <a:t>16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spc="5" dirty="0">
                <a:latin typeface="Arial MT"/>
                <a:cs typeface="Arial MT"/>
              </a:rPr>
              <a:t>bits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5373" y="2180893"/>
            <a:ext cx="216535" cy="5524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690"/>
              </a:spcBef>
            </a:pPr>
            <a:r>
              <a:rPr sz="1050" spc="5" dirty="0">
                <a:latin typeface="Arial MT"/>
                <a:cs typeface="Arial MT"/>
              </a:rPr>
              <a:t>8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r>
              <a:rPr sz="1300" dirty="0">
                <a:latin typeface="Arial MT"/>
                <a:cs typeface="Arial MT"/>
              </a:rPr>
              <a:t>AL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77179" y="3089217"/>
            <a:ext cx="1291590" cy="384810"/>
            <a:chOff x="3977179" y="3089217"/>
            <a:chExt cx="1291590" cy="384810"/>
          </a:xfrm>
        </p:grpSpPr>
        <p:sp>
          <p:nvSpPr>
            <p:cNvPr id="22" name="object 22"/>
            <p:cNvSpPr/>
            <p:nvPr/>
          </p:nvSpPr>
          <p:spPr>
            <a:xfrm>
              <a:off x="3979403" y="3394755"/>
              <a:ext cx="1287145" cy="76835"/>
            </a:xfrm>
            <a:custGeom>
              <a:avLst/>
              <a:gdLst/>
              <a:ahLst/>
              <a:cxnLst/>
              <a:rect l="l" t="t" r="r" b="b"/>
              <a:pathLst>
                <a:path w="1287145" h="76835">
                  <a:moveTo>
                    <a:pt x="1286726" y="76840"/>
                  </a:moveTo>
                  <a:lnTo>
                    <a:pt x="74739" y="76840"/>
                  </a:lnTo>
                  <a:lnTo>
                    <a:pt x="0" y="0"/>
                  </a:lnTo>
                  <a:lnTo>
                    <a:pt x="1211987" y="0"/>
                  </a:lnTo>
                  <a:lnTo>
                    <a:pt x="1286726" y="7684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79403" y="3394755"/>
              <a:ext cx="1287145" cy="76835"/>
            </a:xfrm>
            <a:custGeom>
              <a:avLst/>
              <a:gdLst/>
              <a:ahLst/>
              <a:cxnLst/>
              <a:rect l="l" t="t" r="r" b="b"/>
              <a:pathLst>
                <a:path w="1287145" h="76835">
                  <a:moveTo>
                    <a:pt x="1211987" y="0"/>
                  </a:moveTo>
                  <a:lnTo>
                    <a:pt x="0" y="0"/>
                  </a:lnTo>
                  <a:lnTo>
                    <a:pt x="74739" y="76840"/>
                  </a:lnTo>
                  <a:lnTo>
                    <a:pt x="1286726" y="76840"/>
                  </a:lnTo>
                  <a:lnTo>
                    <a:pt x="1211987" y="0"/>
                  </a:lnTo>
                  <a:close/>
                </a:path>
              </a:pathLst>
            </a:custGeom>
            <a:ln w="40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91390" y="3091440"/>
              <a:ext cx="74930" cy="380365"/>
            </a:xfrm>
            <a:custGeom>
              <a:avLst/>
              <a:gdLst/>
              <a:ahLst/>
              <a:cxnLst/>
              <a:rect l="l" t="t" r="r" b="b"/>
              <a:pathLst>
                <a:path w="74929" h="380364">
                  <a:moveTo>
                    <a:pt x="74741" y="38015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74741" y="76840"/>
                  </a:lnTo>
                  <a:lnTo>
                    <a:pt x="74741" y="38015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91390" y="3091439"/>
              <a:ext cx="74930" cy="380365"/>
            </a:xfrm>
            <a:custGeom>
              <a:avLst/>
              <a:gdLst/>
              <a:ahLst/>
              <a:cxnLst/>
              <a:rect l="l" t="t" r="r" b="b"/>
              <a:pathLst>
                <a:path w="74929" h="380364">
                  <a:moveTo>
                    <a:pt x="74739" y="38015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74739" y="76840"/>
                  </a:lnTo>
                  <a:lnTo>
                    <a:pt x="74739" y="380155"/>
                  </a:lnTo>
                  <a:close/>
                </a:path>
              </a:pathLst>
            </a:custGeom>
            <a:ln w="40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79404" y="3091439"/>
              <a:ext cx="1212215" cy="303530"/>
            </a:xfrm>
            <a:custGeom>
              <a:avLst/>
              <a:gdLst/>
              <a:ahLst/>
              <a:cxnLst/>
              <a:rect l="l" t="t" r="r" b="b"/>
              <a:pathLst>
                <a:path w="1212214" h="303529">
                  <a:moveTo>
                    <a:pt x="1211985" y="30331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1211985" y="0"/>
                  </a:lnTo>
                  <a:lnTo>
                    <a:pt x="1211985" y="3033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79402" y="3091439"/>
              <a:ext cx="1212215" cy="303530"/>
            </a:xfrm>
            <a:custGeom>
              <a:avLst/>
              <a:gdLst/>
              <a:ahLst/>
              <a:cxnLst/>
              <a:rect l="l" t="t" r="r" b="b"/>
              <a:pathLst>
                <a:path w="1212214" h="303529">
                  <a:moveTo>
                    <a:pt x="1211987" y="30331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1211987" y="0"/>
                  </a:lnTo>
                  <a:lnTo>
                    <a:pt x="1211987" y="303315"/>
                  </a:lnTo>
                  <a:close/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474296" y="3113116"/>
            <a:ext cx="23558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AX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63171" y="3695849"/>
            <a:ext cx="2505710" cy="384810"/>
            <a:chOff x="2763171" y="3695849"/>
            <a:chExt cx="2505710" cy="384810"/>
          </a:xfrm>
        </p:grpSpPr>
        <p:sp>
          <p:nvSpPr>
            <p:cNvPr id="30" name="object 30"/>
            <p:cNvSpPr/>
            <p:nvPr/>
          </p:nvSpPr>
          <p:spPr>
            <a:xfrm>
              <a:off x="2765394" y="4001386"/>
              <a:ext cx="2501265" cy="76835"/>
            </a:xfrm>
            <a:custGeom>
              <a:avLst/>
              <a:gdLst/>
              <a:ahLst/>
              <a:cxnLst/>
              <a:rect l="l" t="t" r="r" b="b"/>
              <a:pathLst>
                <a:path w="2501265" h="76835">
                  <a:moveTo>
                    <a:pt x="2500734" y="76840"/>
                  </a:moveTo>
                  <a:lnTo>
                    <a:pt x="76759" y="76840"/>
                  </a:lnTo>
                  <a:lnTo>
                    <a:pt x="0" y="0"/>
                  </a:lnTo>
                  <a:lnTo>
                    <a:pt x="2425995" y="0"/>
                  </a:lnTo>
                  <a:lnTo>
                    <a:pt x="2500734" y="7684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65395" y="4001387"/>
              <a:ext cx="2501265" cy="76835"/>
            </a:xfrm>
            <a:custGeom>
              <a:avLst/>
              <a:gdLst/>
              <a:ahLst/>
              <a:cxnLst/>
              <a:rect l="l" t="t" r="r" b="b"/>
              <a:pathLst>
                <a:path w="2501265" h="76835">
                  <a:moveTo>
                    <a:pt x="2425995" y="0"/>
                  </a:moveTo>
                  <a:lnTo>
                    <a:pt x="0" y="0"/>
                  </a:lnTo>
                  <a:lnTo>
                    <a:pt x="76759" y="76840"/>
                  </a:lnTo>
                  <a:lnTo>
                    <a:pt x="2500734" y="76840"/>
                  </a:lnTo>
                  <a:lnTo>
                    <a:pt x="2425995" y="0"/>
                  </a:lnTo>
                  <a:close/>
                </a:path>
              </a:pathLst>
            </a:custGeom>
            <a:ln w="40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91389" y="3698071"/>
              <a:ext cx="74930" cy="380365"/>
            </a:xfrm>
            <a:custGeom>
              <a:avLst/>
              <a:gdLst/>
              <a:ahLst/>
              <a:cxnLst/>
              <a:rect l="l" t="t" r="r" b="b"/>
              <a:pathLst>
                <a:path w="74929" h="380364">
                  <a:moveTo>
                    <a:pt x="74741" y="38015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74741" y="76840"/>
                  </a:lnTo>
                  <a:lnTo>
                    <a:pt x="74741" y="38015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91390" y="3698071"/>
              <a:ext cx="74930" cy="380365"/>
            </a:xfrm>
            <a:custGeom>
              <a:avLst/>
              <a:gdLst/>
              <a:ahLst/>
              <a:cxnLst/>
              <a:rect l="l" t="t" r="r" b="b"/>
              <a:pathLst>
                <a:path w="74929" h="380364">
                  <a:moveTo>
                    <a:pt x="74739" y="38015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74739" y="76840"/>
                  </a:lnTo>
                  <a:lnTo>
                    <a:pt x="74739" y="380155"/>
                  </a:lnTo>
                  <a:close/>
                </a:path>
              </a:pathLst>
            </a:custGeom>
            <a:ln w="40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65394" y="3698071"/>
              <a:ext cx="2426335" cy="303530"/>
            </a:xfrm>
            <a:custGeom>
              <a:avLst/>
              <a:gdLst/>
              <a:ahLst/>
              <a:cxnLst/>
              <a:rect l="l" t="t" r="r" b="b"/>
              <a:pathLst>
                <a:path w="2426335" h="303529">
                  <a:moveTo>
                    <a:pt x="2425995" y="30331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2425995" y="0"/>
                  </a:lnTo>
                  <a:lnTo>
                    <a:pt x="2425995" y="3033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65394" y="3698071"/>
              <a:ext cx="2426335" cy="303530"/>
            </a:xfrm>
            <a:custGeom>
              <a:avLst/>
              <a:gdLst/>
              <a:ahLst/>
              <a:cxnLst/>
              <a:rect l="l" t="t" r="r" b="b"/>
              <a:pathLst>
                <a:path w="2426335" h="303529">
                  <a:moveTo>
                    <a:pt x="2425995" y="303315"/>
                  </a:moveTo>
                  <a:lnTo>
                    <a:pt x="0" y="303315"/>
                  </a:lnTo>
                  <a:lnTo>
                    <a:pt x="0" y="0"/>
                  </a:lnTo>
                  <a:lnTo>
                    <a:pt x="2425995" y="0"/>
                  </a:lnTo>
                  <a:lnTo>
                    <a:pt x="2425995" y="303315"/>
                  </a:lnTo>
                  <a:close/>
                </a:path>
              </a:pathLst>
            </a:custGeom>
            <a:ln w="40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811743" y="3719747"/>
            <a:ext cx="34671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EAX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65240" y="2180922"/>
            <a:ext cx="244475" cy="5524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690"/>
              </a:spcBef>
            </a:pPr>
            <a:r>
              <a:rPr sz="1050" spc="5" dirty="0">
                <a:latin typeface="Arial MT"/>
                <a:cs typeface="Arial MT"/>
              </a:rPr>
              <a:t>8</a:t>
            </a:r>
            <a:endParaRPr sz="1050">
              <a:latin typeface="Arial MT"/>
              <a:cs typeface="Arial MT"/>
            </a:endParaRPr>
          </a:p>
          <a:p>
            <a:pPr marR="5080" algn="ctr">
              <a:lnSpc>
                <a:spcPct val="100000"/>
              </a:lnSpc>
              <a:spcBef>
                <a:spcPts val="735"/>
              </a:spcBef>
            </a:pPr>
            <a:r>
              <a:rPr sz="1300" dirty="0">
                <a:latin typeface="Arial MT"/>
                <a:cs typeface="Arial MT"/>
              </a:rPr>
              <a:t>AH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69090" y="3818799"/>
            <a:ext cx="41211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5" dirty="0">
                <a:latin typeface="Arial MT"/>
                <a:cs typeface="Arial MT"/>
              </a:rPr>
              <a:t>32</a:t>
            </a:r>
            <a:r>
              <a:rPr sz="1050" spc="-65" dirty="0">
                <a:latin typeface="Arial MT"/>
                <a:cs typeface="Arial MT"/>
              </a:rPr>
              <a:t> </a:t>
            </a:r>
            <a:r>
              <a:rPr sz="1050" spc="5" dirty="0">
                <a:latin typeface="Arial MT"/>
                <a:cs typeface="Arial MT"/>
              </a:rPr>
              <a:t>bits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977369" y="2788124"/>
            <a:ext cx="1216025" cy="1213485"/>
            <a:chOff x="3977369" y="2788124"/>
            <a:chExt cx="1216025" cy="1213485"/>
          </a:xfrm>
        </p:grpSpPr>
        <p:sp>
          <p:nvSpPr>
            <p:cNvPr id="40" name="object 40"/>
            <p:cNvSpPr/>
            <p:nvPr/>
          </p:nvSpPr>
          <p:spPr>
            <a:xfrm>
              <a:off x="3979389" y="2788124"/>
              <a:ext cx="606425" cy="1213485"/>
            </a:xfrm>
            <a:custGeom>
              <a:avLst/>
              <a:gdLst/>
              <a:ahLst/>
              <a:cxnLst/>
              <a:rect l="l" t="t" r="r" b="b"/>
              <a:pathLst>
                <a:path w="606425" h="1213485">
                  <a:moveTo>
                    <a:pt x="606001" y="0"/>
                  </a:moveTo>
                  <a:lnTo>
                    <a:pt x="606001" y="1213263"/>
                  </a:lnTo>
                </a:path>
                <a:path w="606425" h="1213485">
                  <a:moveTo>
                    <a:pt x="0" y="0"/>
                  </a:moveTo>
                  <a:lnTo>
                    <a:pt x="0" y="1213263"/>
                  </a:lnTo>
                </a:path>
              </a:pathLst>
            </a:custGeom>
            <a:ln w="4039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91368" y="2818456"/>
              <a:ext cx="0" cy="880110"/>
            </a:xfrm>
            <a:custGeom>
              <a:avLst/>
              <a:gdLst/>
              <a:ahLst/>
              <a:cxnLst/>
              <a:rect l="l" t="t" r="r" b="b"/>
              <a:pathLst>
                <a:path h="880110">
                  <a:moveTo>
                    <a:pt x="0" y="0"/>
                  </a:moveTo>
                  <a:lnTo>
                    <a:pt x="0" y="879615"/>
                  </a:lnTo>
                </a:path>
              </a:pathLst>
            </a:custGeom>
            <a:ln w="4039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369120" y="2589391"/>
            <a:ext cx="81788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5" dirty="0">
                <a:latin typeface="Arial MT"/>
                <a:cs typeface="Arial MT"/>
              </a:rPr>
              <a:t>8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5" dirty="0">
                <a:latin typeface="Arial MT"/>
                <a:cs typeface="Arial MT"/>
              </a:rPr>
              <a:t>bits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5" dirty="0">
                <a:latin typeface="Arial MT"/>
                <a:cs typeface="Arial MT"/>
              </a:rPr>
              <a:t>+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5" dirty="0">
                <a:latin typeface="Arial MT"/>
                <a:cs typeface="Arial MT"/>
              </a:rPr>
              <a:t>8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5" dirty="0">
                <a:latin typeface="Arial MT"/>
                <a:cs typeface="Arial MT"/>
              </a:rPr>
              <a:t>bits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3600" y="4419600"/>
            <a:ext cx="4518024" cy="1425574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391" y="158495"/>
            <a:ext cx="5186170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4342" y="264668"/>
            <a:ext cx="4672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Index</a:t>
            </a:r>
            <a:r>
              <a:rPr spc="-30" dirty="0"/>
              <a:t> </a:t>
            </a:r>
            <a:r>
              <a:rPr spc="-5" dirty="0"/>
              <a:t>and</a:t>
            </a:r>
            <a:r>
              <a:rPr spc="-25" dirty="0"/>
              <a:t> </a:t>
            </a:r>
            <a:r>
              <a:rPr dirty="0"/>
              <a:t>Base</a:t>
            </a:r>
            <a:r>
              <a:rPr spc="-40" dirty="0"/>
              <a:t> </a:t>
            </a:r>
            <a:r>
              <a:rPr spc="-5" dirty="0"/>
              <a:t>Registers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473200"/>
            <a:ext cx="6875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Some registers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16-bit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name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their </a:t>
            </a:r>
            <a:r>
              <a:rPr sz="2400" spc="-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lower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half: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2438400"/>
            <a:ext cx="2865437" cy="22097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2960" y="158495"/>
            <a:ext cx="7465059" cy="902335"/>
            <a:chOff x="822960" y="158495"/>
            <a:chExt cx="7465059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" y="158495"/>
              <a:ext cx="6560818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8291" y="286524"/>
              <a:ext cx="1379218" cy="6888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3910" y="264668"/>
            <a:ext cx="70135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Some</a:t>
            </a:r>
            <a:r>
              <a:rPr spc="-15" dirty="0"/>
              <a:t> </a:t>
            </a:r>
            <a:r>
              <a:rPr spc="-5" dirty="0"/>
              <a:t>Specialized</a:t>
            </a:r>
            <a:r>
              <a:rPr spc="-30" dirty="0"/>
              <a:t> </a:t>
            </a:r>
            <a:r>
              <a:rPr spc="-5" dirty="0"/>
              <a:t>Register</a:t>
            </a:r>
            <a:r>
              <a:rPr spc="-20" dirty="0"/>
              <a:t> </a:t>
            </a:r>
            <a:r>
              <a:rPr dirty="0"/>
              <a:t>Uses</a:t>
            </a:r>
            <a:r>
              <a:rPr spc="-10" dirty="0"/>
              <a:t> </a:t>
            </a:r>
            <a:r>
              <a:rPr sz="2400" spc="-5" dirty="0"/>
              <a:t>(1</a:t>
            </a:r>
            <a:r>
              <a:rPr sz="2400" spc="-15" dirty="0"/>
              <a:t> </a:t>
            </a:r>
            <a:r>
              <a:rPr sz="2400" spc="-5" dirty="0"/>
              <a:t>of </a:t>
            </a:r>
            <a:r>
              <a:rPr sz="2400" spc="-10" dirty="0"/>
              <a:t>2)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8939" y="1399981"/>
            <a:ext cx="5431790" cy="41490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General-Purpose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EAX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accumulator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ECX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loop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counter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ESP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pointer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ESI,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EDI –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index registers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EBP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extended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frame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pointer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(stack)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Segment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segment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DS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data segment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SS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segment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ES, FS,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GS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- additional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segments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2960" y="158495"/>
            <a:ext cx="7465059" cy="902335"/>
            <a:chOff x="822960" y="158495"/>
            <a:chExt cx="7465059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" y="158495"/>
              <a:ext cx="6560818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8291" y="286524"/>
              <a:ext cx="1379218" cy="6888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3910" y="264668"/>
            <a:ext cx="70135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Some</a:t>
            </a:r>
            <a:r>
              <a:rPr spc="-15" dirty="0"/>
              <a:t> </a:t>
            </a:r>
            <a:r>
              <a:rPr spc="-5" dirty="0"/>
              <a:t>Specialized</a:t>
            </a:r>
            <a:r>
              <a:rPr spc="-30" dirty="0"/>
              <a:t> </a:t>
            </a:r>
            <a:r>
              <a:rPr spc="-5" dirty="0"/>
              <a:t>Register</a:t>
            </a:r>
            <a:r>
              <a:rPr spc="-20" dirty="0"/>
              <a:t> </a:t>
            </a:r>
            <a:r>
              <a:rPr dirty="0"/>
              <a:t>Uses</a:t>
            </a:r>
            <a:r>
              <a:rPr spc="-10" dirty="0"/>
              <a:t> </a:t>
            </a:r>
            <a:r>
              <a:rPr sz="2400" spc="-5" dirty="0"/>
              <a:t>(2</a:t>
            </a:r>
            <a:r>
              <a:rPr sz="2400" spc="-15" dirty="0"/>
              <a:t> </a:t>
            </a:r>
            <a:r>
              <a:rPr sz="2400" spc="-5" dirty="0"/>
              <a:t>of </a:t>
            </a:r>
            <a:r>
              <a:rPr sz="2400" spc="-10" dirty="0"/>
              <a:t>2)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26539" y="1704848"/>
            <a:ext cx="4438015" cy="170751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EIP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instruction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pointer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EFLAGS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status and control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flags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each flag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single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binary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bit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9731" y="158495"/>
            <a:ext cx="2793491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30682" y="264668"/>
            <a:ext cx="22802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Status</a:t>
            </a:r>
            <a:r>
              <a:rPr spc="-80" dirty="0"/>
              <a:t> </a:t>
            </a:r>
            <a:r>
              <a:rPr spc="-10" dirty="0"/>
              <a:t>Flags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7939" y="922969"/>
            <a:ext cx="4763770" cy="46520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Carry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unsigned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arithmetic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out of range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Overflow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signed arithmetic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out of range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Sign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result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negative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endParaRPr sz="2400">
              <a:latin typeface="Arial MT"/>
              <a:cs typeface="Arial MT"/>
            </a:endParaRPr>
          </a:p>
          <a:p>
            <a:pPr marL="286385" marR="2414905" lvl="1" indent="-286385" algn="r">
              <a:lnSpc>
                <a:spcPct val="100000"/>
              </a:lnSpc>
              <a:spcBef>
                <a:spcPts val="259"/>
              </a:spcBef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result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endParaRPr sz="2200">
              <a:latin typeface="Arial MT"/>
              <a:cs typeface="Arial MT"/>
            </a:endParaRPr>
          </a:p>
          <a:p>
            <a:pPr marL="342265" marR="2417445" indent="-342265" algn="r">
              <a:lnSpc>
                <a:spcPct val="100000"/>
              </a:lnSpc>
              <a:spcBef>
                <a:spcPts val="290"/>
              </a:spcBef>
              <a:buChar char="•"/>
              <a:tabLst>
                <a:tab pos="342265" algn="l"/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Auxiliary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Carry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carry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bit 3 to bit 4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Parity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sum of 1 bits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an even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7" y="158495"/>
            <a:ext cx="7216140" cy="902335"/>
            <a:chOff x="978407" y="158495"/>
            <a:chExt cx="721614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407" y="158495"/>
              <a:ext cx="1979675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1635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7271" y="158495"/>
              <a:ext cx="5637274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19327" y="264668"/>
            <a:ext cx="67024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Floating-Point,</a:t>
            </a:r>
            <a:r>
              <a:rPr spc="-20" dirty="0"/>
              <a:t> </a:t>
            </a:r>
            <a:r>
              <a:rPr spc="-5" dirty="0"/>
              <a:t>MMX,</a:t>
            </a:r>
            <a:r>
              <a:rPr spc="-35" dirty="0"/>
              <a:t> </a:t>
            </a:r>
            <a:r>
              <a:rPr spc="-5" dirty="0"/>
              <a:t>XMM</a:t>
            </a:r>
            <a:r>
              <a:rPr spc="-25" dirty="0"/>
              <a:t> </a:t>
            </a:r>
            <a:r>
              <a:rPr spc="-5" dirty="0"/>
              <a:t>Registers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9740" y="1391748"/>
            <a:ext cx="5181600" cy="337375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Eight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80-bit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floating-point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registers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810"/>
              </a:spcBef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ST(0),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ST(1),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ST(7)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865"/>
              </a:spcBef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arranged in a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756285" marR="1098550" lvl="1" indent="-287020">
              <a:lnSpc>
                <a:spcPct val="110000"/>
              </a:lnSpc>
              <a:spcBef>
                <a:spcPts val="575"/>
              </a:spcBef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used for all floating-point </a:t>
            </a:r>
            <a:r>
              <a:rPr sz="2400" spc="-6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arithmetic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Eight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64-bit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MMX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registers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1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Eight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128-bit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XMM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registers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single- 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instruction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multiple-data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(SIMD)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53350" y="1428368"/>
            <a:ext cx="2211070" cy="520065"/>
            <a:chOff x="6053350" y="1428368"/>
            <a:chExt cx="2211070" cy="520065"/>
          </a:xfrm>
        </p:grpSpPr>
        <p:sp>
          <p:nvSpPr>
            <p:cNvPr id="9" name="object 9"/>
            <p:cNvSpPr/>
            <p:nvPr/>
          </p:nvSpPr>
          <p:spPr>
            <a:xfrm>
              <a:off x="6056206" y="1841257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5"/>
                  </a:moveTo>
                  <a:lnTo>
                    <a:pt x="103655" y="103915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56207" y="1841259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57335" y="1431225"/>
              <a:ext cx="104139" cy="514350"/>
            </a:xfrm>
            <a:custGeom>
              <a:avLst/>
              <a:gdLst/>
              <a:ahLst/>
              <a:cxnLst/>
              <a:rect l="l" t="t" r="r" b="b"/>
              <a:pathLst>
                <a:path w="104140" h="514350">
                  <a:moveTo>
                    <a:pt x="103655" y="513948"/>
                  </a:moveTo>
                  <a:lnTo>
                    <a:pt x="0" y="410032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1394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7336" y="1431226"/>
              <a:ext cx="104139" cy="514350"/>
            </a:xfrm>
            <a:custGeom>
              <a:avLst/>
              <a:gdLst/>
              <a:ahLst/>
              <a:cxnLst/>
              <a:rect l="l" t="t" r="r" b="b"/>
              <a:pathLst>
                <a:path w="104140" h="514350">
                  <a:moveTo>
                    <a:pt x="103655" y="513945"/>
                  </a:moveTo>
                  <a:lnTo>
                    <a:pt x="0" y="410032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13945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56208" y="1431226"/>
            <a:ext cx="2101215" cy="379730"/>
          </a:xfrm>
          <a:prstGeom prst="rect">
            <a:avLst/>
          </a:prstGeom>
          <a:solidFill>
            <a:srgbClr val="FFFFFF"/>
          </a:solidFill>
          <a:ln w="5616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800" spc="10" dirty="0">
                <a:latin typeface="Arial MT"/>
                <a:cs typeface="Arial MT"/>
              </a:rPr>
              <a:t>ST(0)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53350" y="1807506"/>
            <a:ext cx="2211070" cy="531495"/>
            <a:chOff x="6053350" y="1807506"/>
            <a:chExt cx="2211070" cy="531495"/>
          </a:xfrm>
        </p:grpSpPr>
        <p:sp>
          <p:nvSpPr>
            <p:cNvPr id="15" name="object 15"/>
            <p:cNvSpPr/>
            <p:nvPr/>
          </p:nvSpPr>
          <p:spPr>
            <a:xfrm>
              <a:off x="6056206" y="2231631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2"/>
                  </a:moveTo>
                  <a:lnTo>
                    <a:pt x="103655" y="103912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56207" y="2231631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57335" y="1810364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80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7336" y="1810364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80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56205" y="1810364"/>
              <a:ext cx="2101215" cy="421640"/>
            </a:xfrm>
            <a:custGeom>
              <a:avLst/>
              <a:gdLst/>
              <a:ahLst/>
              <a:cxnLst/>
              <a:rect l="l" t="t" r="r" b="b"/>
              <a:pathLst>
                <a:path w="2101215" h="421639">
                  <a:moveTo>
                    <a:pt x="2101129" y="421266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101129" y="421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056208" y="1810364"/>
            <a:ext cx="2101215" cy="407670"/>
          </a:xfrm>
          <a:prstGeom prst="rect">
            <a:avLst/>
          </a:prstGeom>
          <a:ln w="5616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spc="10" dirty="0">
                <a:latin typeface="Arial MT"/>
                <a:cs typeface="Arial MT"/>
              </a:rPr>
              <a:t>ST(1)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53350" y="2214729"/>
            <a:ext cx="2211070" cy="531495"/>
            <a:chOff x="6053350" y="2214729"/>
            <a:chExt cx="2211070" cy="531495"/>
          </a:xfrm>
        </p:grpSpPr>
        <p:sp>
          <p:nvSpPr>
            <p:cNvPr id="22" name="object 22"/>
            <p:cNvSpPr/>
            <p:nvPr/>
          </p:nvSpPr>
          <p:spPr>
            <a:xfrm>
              <a:off x="6056206" y="2638853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2"/>
                  </a:moveTo>
                  <a:lnTo>
                    <a:pt x="103655" y="103912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56207" y="2638853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57335" y="2217586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80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336" y="2217586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80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56205" y="2217584"/>
              <a:ext cx="2101215" cy="421640"/>
            </a:xfrm>
            <a:custGeom>
              <a:avLst/>
              <a:gdLst/>
              <a:ahLst/>
              <a:cxnLst/>
              <a:rect l="l" t="t" r="r" b="b"/>
              <a:pathLst>
                <a:path w="2101215" h="421639">
                  <a:moveTo>
                    <a:pt x="2101129" y="421266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101129" y="421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56208" y="2217586"/>
            <a:ext cx="2101215" cy="421640"/>
          </a:xfrm>
          <a:prstGeom prst="rect">
            <a:avLst/>
          </a:prstGeom>
          <a:ln w="5616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spc="10" dirty="0">
                <a:latin typeface="Arial MT"/>
                <a:cs typeface="Arial MT"/>
              </a:rPr>
              <a:t>ST(2)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53350" y="2635994"/>
            <a:ext cx="2211070" cy="531495"/>
            <a:chOff x="6053350" y="2635994"/>
            <a:chExt cx="2211070" cy="531495"/>
          </a:xfrm>
        </p:grpSpPr>
        <p:sp>
          <p:nvSpPr>
            <p:cNvPr id="29" name="object 29"/>
            <p:cNvSpPr/>
            <p:nvPr/>
          </p:nvSpPr>
          <p:spPr>
            <a:xfrm>
              <a:off x="6056206" y="3060119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2"/>
                  </a:moveTo>
                  <a:lnTo>
                    <a:pt x="103655" y="103912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56207" y="3060118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57335" y="2638852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80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57336" y="2638851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80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56205" y="2638852"/>
              <a:ext cx="2101215" cy="421640"/>
            </a:xfrm>
            <a:custGeom>
              <a:avLst/>
              <a:gdLst/>
              <a:ahLst/>
              <a:cxnLst/>
              <a:rect l="l" t="t" r="r" b="b"/>
              <a:pathLst>
                <a:path w="2101215" h="421639">
                  <a:moveTo>
                    <a:pt x="2101129" y="421266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101129" y="421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056208" y="2638852"/>
            <a:ext cx="2101215" cy="421640"/>
          </a:xfrm>
          <a:prstGeom prst="rect">
            <a:avLst/>
          </a:prstGeom>
          <a:ln w="5616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spc="10" dirty="0">
                <a:latin typeface="Arial MT"/>
                <a:cs typeface="Arial MT"/>
              </a:rPr>
              <a:t>ST(3)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53347" y="3057252"/>
            <a:ext cx="2211070" cy="520065"/>
            <a:chOff x="6053347" y="3057252"/>
            <a:chExt cx="2211070" cy="520065"/>
          </a:xfrm>
        </p:grpSpPr>
        <p:sp>
          <p:nvSpPr>
            <p:cNvPr id="36" name="object 36"/>
            <p:cNvSpPr/>
            <p:nvPr/>
          </p:nvSpPr>
          <p:spPr>
            <a:xfrm>
              <a:off x="6056203" y="3470143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2"/>
                  </a:moveTo>
                  <a:lnTo>
                    <a:pt x="103655" y="103912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56204" y="3470143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157332" y="3060110"/>
              <a:ext cx="104139" cy="514350"/>
            </a:xfrm>
            <a:custGeom>
              <a:avLst/>
              <a:gdLst/>
              <a:ahLst/>
              <a:cxnLst/>
              <a:rect l="l" t="t" r="r" b="b"/>
              <a:pathLst>
                <a:path w="104140" h="514350">
                  <a:moveTo>
                    <a:pt x="103655" y="513945"/>
                  </a:moveTo>
                  <a:lnTo>
                    <a:pt x="0" y="410032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1394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157333" y="3060109"/>
              <a:ext cx="104139" cy="514350"/>
            </a:xfrm>
            <a:custGeom>
              <a:avLst/>
              <a:gdLst/>
              <a:ahLst/>
              <a:cxnLst/>
              <a:rect l="l" t="t" r="r" b="b"/>
              <a:pathLst>
                <a:path w="104140" h="514350">
                  <a:moveTo>
                    <a:pt x="103655" y="513945"/>
                  </a:moveTo>
                  <a:lnTo>
                    <a:pt x="0" y="410032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13945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56202" y="3060110"/>
              <a:ext cx="2101215" cy="410209"/>
            </a:xfrm>
            <a:custGeom>
              <a:avLst/>
              <a:gdLst/>
              <a:ahLst/>
              <a:cxnLst/>
              <a:rect l="l" t="t" r="r" b="b"/>
              <a:pathLst>
                <a:path w="2101215" h="410210">
                  <a:moveTo>
                    <a:pt x="2101129" y="410032"/>
                  </a:moveTo>
                  <a:lnTo>
                    <a:pt x="0" y="410032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101129" y="410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56208" y="3060114"/>
            <a:ext cx="2101215" cy="379730"/>
          </a:xfrm>
          <a:prstGeom prst="rect">
            <a:avLst/>
          </a:prstGeom>
          <a:ln w="5616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800" spc="10" dirty="0">
                <a:latin typeface="Arial MT"/>
                <a:cs typeface="Arial MT"/>
              </a:rPr>
              <a:t>ST(4)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053346" y="3436390"/>
            <a:ext cx="2211070" cy="531495"/>
            <a:chOff x="6053346" y="3436390"/>
            <a:chExt cx="2211070" cy="531495"/>
          </a:xfrm>
        </p:grpSpPr>
        <p:sp>
          <p:nvSpPr>
            <p:cNvPr id="43" name="object 43"/>
            <p:cNvSpPr/>
            <p:nvPr/>
          </p:nvSpPr>
          <p:spPr>
            <a:xfrm>
              <a:off x="6056203" y="3860513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2"/>
                  </a:moveTo>
                  <a:lnTo>
                    <a:pt x="103655" y="103912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56203" y="3860515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157331" y="3439250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79">
                  <a:moveTo>
                    <a:pt x="103655" y="525176"/>
                  </a:moveTo>
                  <a:lnTo>
                    <a:pt x="0" y="421263"/>
                  </a:lnTo>
                  <a:lnTo>
                    <a:pt x="0" y="0"/>
                  </a:lnTo>
                  <a:lnTo>
                    <a:pt x="103655" y="103909"/>
                  </a:lnTo>
                  <a:lnTo>
                    <a:pt x="103655" y="525176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157333" y="3439248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79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56201" y="3439248"/>
              <a:ext cx="2101215" cy="421640"/>
            </a:xfrm>
            <a:custGeom>
              <a:avLst/>
              <a:gdLst/>
              <a:ahLst/>
              <a:cxnLst/>
              <a:rect l="l" t="t" r="r" b="b"/>
              <a:pathLst>
                <a:path w="2101215" h="421639">
                  <a:moveTo>
                    <a:pt x="2101129" y="421263"/>
                  </a:moveTo>
                  <a:lnTo>
                    <a:pt x="0" y="421263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101129" y="421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056208" y="3439248"/>
            <a:ext cx="2101215" cy="407670"/>
          </a:xfrm>
          <a:prstGeom prst="rect">
            <a:avLst/>
          </a:prstGeom>
          <a:ln w="5617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spc="10" dirty="0">
                <a:latin typeface="Arial MT"/>
                <a:cs typeface="Arial MT"/>
              </a:rPr>
              <a:t>ST(5)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053346" y="3843613"/>
            <a:ext cx="2211070" cy="531495"/>
            <a:chOff x="6053346" y="3843613"/>
            <a:chExt cx="2211070" cy="531495"/>
          </a:xfrm>
        </p:grpSpPr>
        <p:sp>
          <p:nvSpPr>
            <p:cNvPr id="50" name="object 50"/>
            <p:cNvSpPr/>
            <p:nvPr/>
          </p:nvSpPr>
          <p:spPr>
            <a:xfrm>
              <a:off x="6056203" y="4267736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5"/>
                  </a:moveTo>
                  <a:lnTo>
                    <a:pt x="103655" y="103915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5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56203" y="4267738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57331" y="3846472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79">
                  <a:moveTo>
                    <a:pt x="103655" y="525178"/>
                  </a:moveTo>
                  <a:lnTo>
                    <a:pt x="0" y="421263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57333" y="3846470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79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56201" y="3846471"/>
              <a:ext cx="2101215" cy="421640"/>
            </a:xfrm>
            <a:custGeom>
              <a:avLst/>
              <a:gdLst/>
              <a:ahLst/>
              <a:cxnLst/>
              <a:rect l="l" t="t" r="r" b="b"/>
              <a:pathLst>
                <a:path w="2101215" h="421639">
                  <a:moveTo>
                    <a:pt x="2101129" y="421263"/>
                  </a:moveTo>
                  <a:lnTo>
                    <a:pt x="0" y="421263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101129" y="421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056208" y="3846471"/>
            <a:ext cx="2101215" cy="421640"/>
          </a:xfrm>
          <a:prstGeom prst="rect">
            <a:avLst/>
          </a:prstGeom>
          <a:ln w="5616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spc="10" dirty="0">
                <a:latin typeface="Arial MT"/>
                <a:cs typeface="Arial MT"/>
              </a:rPr>
              <a:t>ST(6)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053395" y="4264934"/>
            <a:ext cx="2210435" cy="530860"/>
            <a:chOff x="6053395" y="4264934"/>
            <a:chExt cx="2210435" cy="530860"/>
          </a:xfrm>
        </p:grpSpPr>
        <p:sp>
          <p:nvSpPr>
            <p:cNvPr id="57" name="object 57"/>
            <p:cNvSpPr/>
            <p:nvPr/>
          </p:nvSpPr>
          <p:spPr>
            <a:xfrm>
              <a:off x="6056203" y="4689002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204784" y="103912"/>
                  </a:moveTo>
                  <a:lnTo>
                    <a:pt x="103655" y="103912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204784" y="103912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56204" y="4689003"/>
              <a:ext cx="2205355" cy="104139"/>
            </a:xfrm>
            <a:custGeom>
              <a:avLst/>
              <a:gdLst/>
              <a:ahLst/>
              <a:cxnLst/>
              <a:rect l="l" t="t" r="r" b="b"/>
              <a:pathLst>
                <a:path w="2205354" h="104139">
                  <a:moveTo>
                    <a:pt x="2101129" y="0"/>
                  </a:moveTo>
                  <a:lnTo>
                    <a:pt x="0" y="0"/>
                  </a:lnTo>
                  <a:lnTo>
                    <a:pt x="103655" y="103912"/>
                  </a:lnTo>
                  <a:lnTo>
                    <a:pt x="2204784" y="103912"/>
                  </a:lnTo>
                  <a:lnTo>
                    <a:pt x="2101129" y="0"/>
                  </a:lnTo>
                  <a:close/>
                </a:path>
              </a:pathLst>
            </a:custGeom>
            <a:ln w="5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331" y="4267735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79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5"/>
                  </a:lnTo>
                  <a:lnTo>
                    <a:pt x="103655" y="52517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57333" y="4267736"/>
              <a:ext cx="104139" cy="525780"/>
            </a:xfrm>
            <a:custGeom>
              <a:avLst/>
              <a:gdLst/>
              <a:ahLst/>
              <a:cxnLst/>
              <a:rect l="l" t="t" r="r" b="b"/>
              <a:pathLst>
                <a:path w="104140" h="525779">
                  <a:moveTo>
                    <a:pt x="103655" y="525178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103655" y="103912"/>
                  </a:lnTo>
                  <a:lnTo>
                    <a:pt x="103655" y="525178"/>
                  </a:lnTo>
                  <a:close/>
                </a:path>
              </a:pathLst>
            </a:custGeom>
            <a:ln w="5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056202" y="4267733"/>
              <a:ext cx="2101215" cy="421640"/>
            </a:xfrm>
            <a:custGeom>
              <a:avLst/>
              <a:gdLst/>
              <a:ahLst/>
              <a:cxnLst/>
              <a:rect l="l" t="t" r="r" b="b"/>
              <a:pathLst>
                <a:path w="2101215" h="421639">
                  <a:moveTo>
                    <a:pt x="2101129" y="421266"/>
                  </a:moveTo>
                  <a:lnTo>
                    <a:pt x="0" y="421266"/>
                  </a:lnTo>
                  <a:lnTo>
                    <a:pt x="0" y="0"/>
                  </a:lnTo>
                  <a:lnTo>
                    <a:pt x="2101129" y="0"/>
                  </a:lnTo>
                  <a:lnTo>
                    <a:pt x="2101129" y="421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056208" y="4267736"/>
            <a:ext cx="2101215" cy="421640"/>
          </a:xfrm>
          <a:prstGeom prst="rect">
            <a:avLst/>
          </a:prstGeom>
          <a:ln w="5616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800" spc="10" dirty="0">
                <a:latin typeface="Arial MT"/>
                <a:cs typeface="Arial MT"/>
              </a:rPr>
              <a:t>ST(7)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9355" y="158495"/>
            <a:ext cx="2714243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What's</a:t>
            </a:r>
            <a:r>
              <a:rPr spc="-95" dirty="0"/>
              <a:t> </a:t>
            </a:r>
            <a:r>
              <a:rPr dirty="0"/>
              <a:t>Next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758315" y="1557933"/>
            <a:ext cx="5627369" cy="202940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56590" indent="-342900">
              <a:lnSpc>
                <a:spcPct val="100000"/>
              </a:lnSpc>
              <a:spcBef>
                <a:spcPts val="6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General</a:t>
            </a:r>
            <a:r>
              <a:rPr spc="-15" dirty="0"/>
              <a:t> </a:t>
            </a:r>
            <a:r>
              <a:rPr spc="-5" dirty="0"/>
              <a:t>Concepts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5" dirty="0"/>
              <a:t> </a:t>
            </a:r>
            <a:r>
              <a:rPr spc="-5" dirty="0"/>
              <a:t>Processor</a:t>
            </a:r>
            <a:r>
              <a:rPr dirty="0"/>
              <a:t> </a:t>
            </a:r>
            <a:r>
              <a:rPr spc="-5" dirty="0"/>
              <a:t>Architecture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lr>
                <a:srgbClr val="FFFFFF"/>
              </a:buClr>
              <a:buFont typeface="Arial MT"/>
              <a:buChar char="•"/>
              <a:tabLst>
                <a:tab pos="656590" algn="l"/>
                <a:tab pos="657225" algn="l"/>
              </a:tabLst>
            </a:pPr>
            <a:r>
              <a:rPr b="1" spc="-5" dirty="0">
                <a:solidFill>
                  <a:srgbClr val="FFCC66"/>
                </a:solidFill>
                <a:latin typeface="Arial"/>
                <a:cs typeface="Arial"/>
              </a:rPr>
              <a:t>IA-32</a:t>
            </a:r>
            <a:r>
              <a:rPr b="1" spc="-1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CC66"/>
                </a:solidFill>
                <a:latin typeface="Arial"/>
                <a:cs typeface="Arial"/>
              </a:rPr>
              <a:t>Memory</a:t>
            </a:r>
            <a:r>
              <a:rPr b="1" spc="-10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CC66"/>
                </a:solidFill>
                <a:latin typeface="Arial"/>
                <a:cs typeface="Arial"/>
              </a:rPr>
              <a:t>Management</a:t>
            </a:r>
          </a:p>
          <a:p>
            <a:pPr marL="656590" indent="-342900">
              <a:lnSpc>
                <a:spcPct val="100000"/>
              </a:lnSpc>
              <a:spcBef>
                <a:spcPts val="5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64-Bit</a:t>
            </a:r>
            <a:r>
              <a:rPr spc="-20" dirty="0"/>
              <a:t> </a:t>
            </a:r>
            <a:r>
              <a:rPr spc="-5" dirty="0"/>
              <a:t>Processors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Components</a:t>
            </a:r>
            <a:r>
              <a:rPr spc="25" dirty="0"/>
              <a:t> </a:t>
            </a:r>
            <a:r>
              <a:rPr spc="-5" dirty="0"/>
              <a:t>of an IA-32</a:t>
            </a:r>
            <a:r>
              <a:rPr spc="5" dirty="0"/>
              <a:t> </a:t>
            </a:r>
            <a:r>
              <a:rPr spc="-5" dirty="0"/>
              <a:t>Microcomputer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02891" y="158495"/>
            <a:ext cx="5565775" cy="902335"/>
            <a:chOff x="1802891" y="158495"/>
            <a:chExt cx="5565775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2891" y="158495"/>
              <a:ext cx="920495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6939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2575" y="158495"/>
              <a:ext cx="5045962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3842" y="264668"/>
            <a:ext cx="5052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IA-32</a:t>
            </a:r>
            <a:r>
              <a:rPr spc="-55" dirty="0"/>
              <a:t> </a:t>
            </a:r>
            <a:r>
              <a:rPr spc="-5" dirty="0"/>
              <a:t>Memory</a:t>
            </a:r>
            <a:r>
              <a:rPr spc="-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1907539" y="1552448"/>
            <a:ext cx="4201160" cy="17947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Real-address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Calculating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addresses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Protected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Paging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0675" y="158495"/>
            <a:ext cx="4389120" cy="902335"/>
            <a:chOff x="2360675" y="158495"/>
            <a:chExt cx="438912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0675" y="158495"/>
              <a:ext cx="3401567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9052" y="286524"/>
              <a:ext cx="1380743" cy="6888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01626" y="264668"/>
            <a:ext cx="39382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</a:t>
            </a:r>
            <a:r>
              <a:rPr spc="-10" dirty="0"/>
              <a:t>o</a:t>
            </a:r>
            <a:r>
              <a:rPr spc="-5" dirty="0"/>
              <a:t>t</a:t>
            </a:r>
            <a:r>
              <a:rPr spc="-10" dirty="0"/>
              <a:t>e</a:t>
            </a:r>
            <a:r>
              <a:rPr spc="5" dirty="0"/>
              <a:t>c</a:t>
            </a:r>
            <a:r>
              <a:rPr spc="-5" dirty="0"/>
              <a:t>t</a:t>
            </a:r>
            <a:r>
              <a:rPr spc="-10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spc="-10" dirty="0"/>
              <a:t>Mod</a:t>
            </a:r>
            <a:r>
              <a:rPr dirty="0"/>
              <a:t>e</a:t>
            </a:r>
            <a:r>
              <a:rPr spc="-240" dirty="0"/>
              <a:t> </a:t>
            </a:r>
            <a:r>
              <a:rPr sz="2400" dirty="0"/>
              <a:t>(</a:t>
            </a:r>
            <a:r>
              <a:rPr sz="2400" spc="-5" dirty="0"/>
              <a:t>1</a:t>
            </a:r>
            <a:r>
              <a:rPr sz="2400" dirty="0"/>
              <a:t> </a:t>
            </a:r>
            <a:r>
              <a:rPr sz="2400" spc="-5" dirty="0"/>
              <a:t>o</a:t>
            </a:r>
            <a:r>
              <a:rPr sz="2400" dirty="0"/>
              <a:t>f</a:t>
            </a:r>
            <a:r>
              <a:rPr sz="2400" spc="-5" dirty="0"/>
              <a:t> </a:t>
            </a:r>
            <a:r>
              <a:rPr sz="2400" spc="-10" dirty="0"/>
              <a:t>2)</a:t>
            </a:r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993139" y="1399914"/>
            <a:ext cx="7062470" cy="25495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GB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addressable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RAM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(00000000 to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FFFFFFFFh)</a:t>
            </a:r>
            <a:endParaRPr sz="22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Each program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assigned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partition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which </a:t>
            </a:r>
            <a:r>
              <a:rPr sz="2400" spc="-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protected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other programs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Designed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multitasking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Supported by Linux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MS-Windows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9355" y="158495"/>
            <a:ext cx="2714243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What's</a:t>
            </a:r>
            <a:r>
              <a:rPr spc="-95" dirty="0"/>
              <a:t> </a:t>
            </a:r>
            <a:r>
              <a:rPr dirty="0"/>
              <a:t>Next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758315" y="1557933"/>
            <a:ext cx="5627369" cy="202940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56590" indent="-342900">
              <a:lnSpc>
                <a:spcPct val="100000"/>
              </a:lnSpc>
              <a:spcBef>
                <a:spcPts val="6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General</a:t>
            </a:r>
            <a:r>
              <a:rPr spc="-15" dirty="0"/>
              <a:t> </a:t>
            </a:r>
            <a:r>
              <a:rPr spc="-5" dirty="0"/>
              <a:t>Concepts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5" dirty="0"/>
              <a:t> </a:t>
            </a:r>
            <a:r>
              <a:rPr spc="-5" dirty="0"/>
              <a:t>Processor</a:t>
            </a:r>
            <a:r>
              <a:rPr dirty="0"/>
              <a:t> </a:t>
            </a:r>
            <a:r>
              <a:rPr spc="-5" dirty="0"/>
              <a:t>Architecture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-15" dirty="0"/>
              <a:t> </a:t>
            </a:r>
            <a:r>
              <a:rPr spc="-5" dirty="0"/>
              <a:t>Memory</a:t>
            </a:r>
            <a:r>
              <a:rPr spc="10" dirty="0"/>
              <a:t> </a:t>
            </a:r>
            <a:r>
              <a:rPr spc="-5" dirty="0"/>
              <a:t>Management</a:t>
            </a:r>
          </a:p>
          <a:p>
            <a:pPr marL="656590" indent="-342900">
              <a:lnSpc>
                <a:spcPct val="100000"/>
              </a:lnSpc>
              <a:spcBef>
                <a:spcPts val="525"/>
              </a:spcBef>
              <a:buClr>
                <a:srgbClr val="FFFFFF"/>
              </a:buClr>
              <a:buFont typeface="Arial MT"/>
              <a:buChar char="•"/>
              <a:tabLst>
                <a:tab pos="656590" algn="l"/>
                <a:tab pos="657225" algn="l"/>
              </a:tabLst>
            </a:pPr>
            <a:r>
              <a:rPr b="1" spc="-5" dirty="0">
                <a:solidFill>
                  <a:srgbClr val="FFC000"/>
                </a:solidFill>
                <a:latin typeface="Arial"/>
                <a:cs typeface="Arial"/>
              </a:rPr>
              <a:t>64-Bit</a:t>
            </a:r>
            <a:r>
              <a:rPr b="1" spc="-2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FFC000"/>
                </a:solidFill>
                <a:latin typeface="Arial"/>
                <a:cs typeface="Arial"/>
              </a:rPr>
              <a:t>Processors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Components</a:t>
            </a:r>
            <a:r>
              <a:rPr spc="25" dirty="0"/>
              <a:t> </a:t>
            </a:r>
            <a:r>
              <a:rPr spc="-5" dirty="0"/>
              <a:t>of an IA-32</a:t>
            </a:r>
            <a:r>
              <a:rPr spc="5" dirty="0"/>
              <a:t> </a:t>
            </a:r>
            <a:r>
              <a:rPr spc="-5" dirty="0"/>
              <a:t>Microcomputer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4244" y="158495"/>
            <a:ext cx="3744595" cy="902335"/>
            <a:chOff x="2714244" y="158495"/>
            <a:chExt cx="3744595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4244" y="158495"/>
              <a:ext cx="987551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5347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0983" y="158495"/>
              <a:ext cx="3157727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55163" y="264668"/>
            <a:ext cx="32340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64-Bit</a:t>
            </a:r>
            <a:r>
              <a:rPr spc="-90" dirty="0"/>
              <a:t> </a:t>
            </a:r>
            <a:r>
              <a:rPr dirty="0"/>
              <a:t>Processors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4540" y="1323714"/>
            <a:ext cx="7560945" cy="35852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64-Bit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Operation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Modes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25"/>
              </a:spcBef>
              <a:buChar char="•"/>
              <a:tabLst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Compatibility mode – can run existing 16-bit and 32-bit </a:t>
            </a:r>
            <a:r>
              <a:rPr sz="2200" spc="-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applications (Windows supports only 32-bit apps in this </a:t>
            </a:r>
            <a:r>
              <a:rPr sz="2200" spc="-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mode)</a:t>
            </a:r>
            <a:endParaRPr sz="2200">
              <a:latin typeface="Arial MT"/>
              <a:cs typeface="Arial MT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30"/>
              </a:spcBef>
              <a:buChar char="•"/>
              <a:tabLst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64-bit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– Windows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64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uses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endParaRPr sz="2200">
              <a:latin typeface="Arial MT"/>
              <a:cs typeface="Arial MT"/>
            </a:endParaRPr>
          </a:p>
          <a:p>
            <a:pPr marL="355600" indent="-342900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Basic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Environment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addresses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64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bits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(48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bits,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practice)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16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64-bit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general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purpose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registers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64-bit instruction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pointer named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RIP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3208" y="158495"/>
            <a:ext cx="6606540" cy="902335"/>
            <a:chOff x="1283208" y="158495"/>
            <a:chExt cx="660654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208" y="158495"/>
              <a:ext cx="987551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4311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9947" y="158495"/>
              <a:ext cx="6019799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4127" y="264668"/>
            <a:ext cx="60928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64-Bit</a:t>
            </a:r>
            <a:r>
              <a:rPr spc="-20" dirty="0"/>
              <a:t> </a:t>
            </a:r>
            <a:r>
              <a:rPr spc="-5" dirty="0"/>
              <a:t>General</a:t>
            </a:r>
            <a:r>
              <a:rPr spc="-30" dirty="0"/>
              <a:t> </a:t>
            </a:r>
            <a:r>
              <a:rPr spc="-5" dirty="0"/>
              <a:t>Purpose</a:t>
            </a:r>
            <a:r>
              <a:rPr spc="-45" dirty="0"/>
              <a:t> </a:t>
            </a:r>
            <a:r>
              <a:rPr spc="-5" dirty="0"/>
              <a:t>Registers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4540" y="1095114"/>
            <a:ext cx="7378065" cy="23780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32-bit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general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purpose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registers:</a:t>
            </a:r>
            <a:endParaRPr sz="2400">
              <a:latin typeface="Arial MT"/>
              <a:cs typeface="Arial MT"/>
            </a:endParaRPr>
          </a:p>
          <a:p>
            <a:pPr marL="756285" marR="44259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EAX,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EBX,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ECX,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EDX,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EDI,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ESI,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EBP,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ESP,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R8D, </a:t>
            </a:r>
            <a:r>
              <a:rPr sz="22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R9D,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R10D,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R11D,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R12D,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R13D,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R14D,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R15D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64-bit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general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purpose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registers: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RAX,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RBX,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RCX,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RDX,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RDI,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RSI, RBP, RSP,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R8,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R9, </a:t>
            </a:r>
            <a:r>
              <a:rPr sz="2200" spc="-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R10,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R11,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R12,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R13,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R14,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R15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9355" y="158495"/>
            <a:ext cx="2714243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What's</a:t>
            </a:r>
            <a:r>
              <a:rPr spc="-95" dirty="0"/>
              <a:t> </a:t>
            </a:r>
            <a:r>
              <a:rPr dirty="0"/>
              <a:t>Next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9939" y="1557933"/>
            <a:ext cx="5684520" cy="202940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General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Concepts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IA-32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Processor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IA-32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64-Bit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Processors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FFFFFF"/>
              </a:buClr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FFCC66"/>
                </a:solidFill>
                <a:latin typeface="Arial"/>
                <a:cs typeface="Arial"/>
              </a:rPr>
              <a:t>Components</a:t>
            </a:r>
            <a:r>
              <a:rPr sz="2200" b="1" spc="2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FFCC66"/>
                </a:solidFill>
                <a:latin typeface="Arial"/>
                <a:cs typeface="Arial"/>
              </a:rPr>
              <a:t>of</a:t>
            </a:r>
            <a:r>
              <a:rPr sz="2200" b="1" spc="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FFCC66"/>
                </a:solidFill>
                <a:latin typeface="Arial"/>
                <a:cs typeface="Arial"/>
              </a:rPr>
              <a:t>an</a:t>
            </a:r>
            <a:r>
              <a:rPr sz="2200" b="1" spc="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FFCC66"/>
                </a:solidFill>
                <a:latin typeface="Arial"/>
                <a:cs typeface="Arial"/>
              </a:rPr>
              <a:t>IA-32</a:t>
            </a:r>
            <a:r>
              <a:rPr sz="2200" b="1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FFCC66"/>
                </a:solidFill>
                <a:latin typeface="Arial"/>
                <a:cs typeface="Arial"/>
              </a:rPr>
              <a:t>Microcomputer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9328" y="158495"/>
            <a:ext cx="7733030" cy="902335"/>
            <a:chOff x="719328" y="158495"/>
            <a:chExt cx="773303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328" y="158495"/>
              <a:ext cx="4347971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1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6487" y="158495"/>
              <a:ext cx="3785615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0278" y="264668"/>
            <a:ext cx="72193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Components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an</a:t>
            </a:r>
            <a:r>
              <a:rPr spc="-15" dirty="0"/>
              <a:t> </a:t>
            </a:r>
            <a:r>
              <a:rPr spc="-5" dirty="0"/>
              <a:t>IA-32</a:t>
            </a:r>
            <a:r>
              <a:rPr spc="-30" dirty="0"/>
              <a:t> </a:t>
            </a:r>
            <a:r>
              <a:rPr spc="-5" dirty="0"/>
              <a:t>Microcomputer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93339" y="1400048"/>
            <a:ext cx="2758440" cy="17811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Motherboard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Input-output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ports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6872" y="158495"/>
            <a:ext cx="2837675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07790" y="264668"/>
            <a:ext cx="23266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</a:t>
            </a:r>
            <a:r>
              <a:rPr spc="-5" dirty="0"/>
              <a:t>t</a:t>
            </a:r>
            <a:r>
              <a:rPr spc="-10" dirty="0"/>
              <a:t>he</a:t>
            </a:r>
            <a:r>
              <a:rPr dirty="0"/>
              <a:t>r</a:t>
            </a:r>
            <a:r>
              <a:rPr spc="-10" dirty="0"/>
              <a:t>boa</a:t>
            </a:r>
            <a:r>
              <a:rPr dirty="0"/>
              <a:t>rd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095248"/>
            <a:ext cx="7299325" cy="39027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CPU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socket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External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cache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slots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Main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slots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BIOS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chips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Sound synthesizer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chip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(optional)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controller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chip (optional)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IDE, parallel,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serial,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USB,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video,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keyboard,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joystick, </a:t>
            </a:r>
            <a:r>
              <a:rPr sz="2400" spc="-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network,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mouse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connectors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PCI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bus connectors (expansion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cards)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347" y="0"/>
            <a:ext cx="5431535" cy="8321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2267" y="36068"/>
            <a:ext cx="49193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Intel</a:t>
            </a:r>
            <a:r>
              <a:rPr spc="-55" dirty="0"/>
              <a:t> </a:t>
            </a:r>
            <a:r>
              <a:rPr spc="-5" dirty="0"/>
              <a:t>D850MD</a:t>
            </a:r>
            <a:r>
              <a:rPr spc="-65" dirty="0"/>
              <a:t> </a:t>
            </a:r>
            <a:r>
              <a:rPr spc="-5" dirty="0"/>
              <a:t>Motherboard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66875" y="762000"/>
            <a:ext cx="5581650" cy="5267325"/>
            <a:chOff x="1666875" y="762000"/>
            <a:chExt cx="5581650" cy="52673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800" y="762000"/>
              <a:ext cx="4965700" cy="51053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88100" y="3962400"/>
              <a:ext cx="850900" cy="0"/>
            </a:xfrm>
            <a:custGeom>
              <a:avLst/>
              <a:gdLst/>
              <a:ahLst/>
              <a:cxnLst/>
              <a:rect l="l" t="t" r="r" b="b"/>
              <a:pathLst>
                <a:path w="850900">
                  <a:moveTo>
                    <a:pt x="8509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24597" y="39242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30900" y="312420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10033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7397" y="30860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400" y="2514600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0" y="0"/>
                  </a:moveTo>
                  <a:lnTo>
                    <a:pt x="9271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2" y="24764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25619" y="5544769"/>
              <a:ext cx="203835" cy="475615"/>
            </a:xfrm>
            <a:custGeom>
              <a:avLst/>
              <a:gdLst/>
              <a:ahLst/>
              <a:cxnLst/>
              <a:rect l="l" t="t" r="r" b="b"/>
              <a:pathLst>
                <a:path w="203835" h="475614">
                  <a:moveTo>
                    <a:pt x="203580" y="47503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95593" y="5486394"/>
              <a:ext cx="70485" cy="85090"/>
            </a:xfrm>
            <a:custGeom>
              <a:avLst/>
              <a:gdLst/>
              <a:ahLst/>
              <a:cxnLst/>
              <a:rect l="l" t="t" r="r" b="b"/>
              <a:pathLst>
                <a:path w="70485" h="85089">
                  <a:moveTo>
                    <a:pt x="5003" y="0"/>
                  </a:moveTo>
                  <a:lnTo>
                    <a:pt x="0" y="85051"/>
                  </a:lnTo>
                  <a:lnTo>
                    <a:pt x="70040" y="55041"/>
                  </a:lnTo>
                  <a:lnTo>
                    <a:pt x="5003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17740" y="3809238"/>
            <a:ext cx="1211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dynamic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RAM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1740" y="5911088"/>
            <a:ext cx="18002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IDE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drive</a:t>
            </a:r>
            <a:r>
              <a:rPr sz="1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connectors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36740" y="424688"/>
            <a:ext cx="20713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mouse, keyboard, </a:t>
            </a:r>
            <a:r>
              <a:rPr sz="1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parallel,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serial,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USB </a:t>
            </a:r>
            <a:r>
              <a:rPr sz="1500" spc="-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connectors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71600" y="809625"/>
            <a:ext cx="5876925" cy="5035550"/>
            <a:chOff x="1371600" y="809625"/>
            <a:chExt cx="5876925" cy="5035550"/>
          </a:xfrm>
        </p:grpSpPr>
        <p:sp>
          <p:nvSpPr>
            <p:cNvPr id="18" name="object 18"/>
            <p:cNvSpPr/>
            <p:nvPr/>
          </p:nvSpPr>
          <p:spPr>
            <a:xfrm>
              <a:off x="1676400" y="3276600"/>
              <a:ext cx="1765300" cy="0"/>
            </a:xfrm>
            <a:custGeom>
              <a:avLst/>
              <a:gdLst/>
              <a:ahLst/>
              <a:cxnLst/>
              <a:rect l="l" t="t" r="r" b="b"/>
              <a:pathLst>
                <a:path w="1765300">
                  <a:moveTo>
                    <a:pt x="0" y="0"/>
                  </a:moveTo>
                  <a:lnTo>
                    <a:pt x="17653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29001" y="32384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00200" y="556260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3175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05002" y="55244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47800" y="914400"/>
              <a:ext cx="2374900" cy="0"/>
            </a:xfrm>
            <a:custGeom>
              <a:avLst/>
              <a:gdLst/>
              <a:ahLst/>
              <a:cxnLst/>
              <a:rect l="l" t="t" r="r" b="b"/>
              <a:pathLst>
                <a:path w="2374900">
                  <a:moveTo>
                    <a:pt x="0" y="0"/>
                  </a:moveTo>
                  <a:lnTo>
                    <a:pt x="23749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10001" y="8762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07100" y="5410200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9271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43597" y="53721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35207" y="2743200"/>
              <a:ext cx="2299335" cy="222885"/>
            </a:xfrm>
            <a:custGeom>
              <a:avLst/>
              <a:gdLst/>
              <a:ahLst/>
              <a:cxnLst/>
              <a:rect l="l" t="t" r="r" b="b"/>
              <a:pathLst>
                <a:path w="2299334" h="222885">
                  <a:moveTo>
                    <a:pt x="2298992" y="0"/>
                  </a:moveTo>
                  <a:lnTo>
                    <a:pt x="0" y="222478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2000" y="2926533"/>
              <a:ext cx="80010" cy="76200"/>
            </a:xfrm>
            <a:custGeom>
              <a:avLst/>
              <a:gdLst/>
              <a:ahLst/>
              <a:cxnLst/>
              <a:rect l="l" t="t" r="r" b="b"/>
              <a:pathLst>
                <a:path w="80010" h="76200">
                  <a:moveTo>
                    <a:pt x="72174" y="0"/>
                  </a:moveTo>
                  <a:lnTo>
                    <a:pt x="0" y="45262"/>
                  </a:lnTo>
                  <a:lnTo>
                    <a:pt x="79514" y="75844"/>
                  </a:lnTo>
                  <a:lnTo>
                    <a:pt x="72174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79451" y="3962400"/>
              <a:ext cx="859790" cy="501650"/>
            </a:xfrm>
            <a:custGeom>
              <a:avLst/>
              <a:gdLst/>
              <a:ahLst/>
              <a:cxnLst/>
              <a:rect l="l" t="t" r="r" b="b"/>
              <a:pathLst>
                <a:path w="859790" h="501650">
                  <a:moveTo>
                    <a:pt x="859548" y="0"/>
                  </a:moveTo>
                  <a:lnTo>
                    <a:pt x="0" y="501408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4597" y="4424493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89" h="71754">
                  <a:moveTo>
                    <a:pt x="46621" y="0"/>
                  </a:moveTo>
                  <a:lnTo>
                    <a:pt x="0" y="71310"/>
                  </a:lnTo>
                  <a:lnTo>
                    <a:pt x="85013" y="65824"/>
                  </a:lnTo>
                  <a:lnTo>
                    <a:pt x="46621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05880" y="5651182"/>
              <a:ext cx="928369" cy="184785"/>
            </a:xfrm>
            <a:custGeom>
              <a:avLst/>
              <a:gdLst/>
              <a:ahLst/>
              <a:cxnLst/>
              <a:rect l="l" t="t" r="r" b="b"/>
              <a:pathLst>
                <a:path w="928370" h="184785">
                  <a:moveTo>
                    <a:pt x="928319" y="18446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43600" y="5616285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29">
                  <a:moveTo>
                    <a:pt x="82169" y="0"/>
                  </a:moveTo>
                  <a:lnTo>
                    <a:pt x="0" y="22517"/>
                  </a:lnTo>
                  <a:lnTo>
                    <a:pt x="67310" y="74739"/>
                  </a:lnTo>
                  <a:lnTo>
                    <a:pt x="82169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71600" y="5334000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0" y="0"/>
                  </a:moveTo>
                  <a:lnTo>
                    <a:pt x="9271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6002" y="52958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71600" y="5029200"/>
              <a:ext cx="1765300" cy="0"/>
            </a:xfrm>
            <a:custGeom>
              <a:avLst/>
              <a:gdLst/>
              <a:ahLst/>
              <a:cxnLst/>
              <a:rect l="l" t="t" r="r" b="b"/>
              <a:pathLst>
                <a:path w="1765300">
                  <a:moveTo>
                    <a:pt x="0" y="0"/>
                  </a:moveTo>
                  <a:lnTo>
                    <a:pt x="17653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24201" y="49910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14800" y="838200"/>
              <a:ext cx="2819400" cy="0"/>
            </a:xfrm>
            <a:custGeom>
              <a:avLst/>
              <a:gdLst/>
              <a:ahLst/>
              <a:cxnLst/>
              <a:rect l="l" t="t" r="r" b="b"/>
              <a:pathLst>
                <a:path w="2819400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00200" y="4343400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9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19401" y="43052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00200" y="1371600"/>
              <a:ext cx="546100" cy="0"/>
            </a:xfrm>
            <a:custGeom>
              <a:avLst/>
              <a:gdLst/>
              <a:ahLst/>
              <a:cxnLst/>
              <a:rect l="l" t="t" r="r" b="b"/>
              <a:pathLst>
                <a:path w="546100">
                  <a:moveTo>
                    <a:pt x="0" y="0"/>
                  </a:moveTo>
                  <a:lnTo>
                    <a:pt x="546100" y="0"/>
                  </a:lnTo>
                </a:path>
              </a:pathLst>
            </a:custGeom>
            <a:ln w="190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33602" y="13334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20927" y="3123438"/>
            <a:ext cx="7759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AGP</a:t>
            </a:r>
            <a:r>
              <a:rPr sz="15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slot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891032" y="5444363"/>
            <a:ext cx="6311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att</a:t>
            </a:r>
            <a:r>
              <a:rPr sz="1500" spc="5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ry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5980" y="761238"/>
            <a:ext cx="51180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deo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12940" y="5257038"/>
            <a:ext cx="14630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Power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connector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12940" y="2590038"/>
            <a:ext cx="1924685" cy="63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controller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hub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Pentium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5" dirty="0">
                <a:solidFill>
                  <a:srgbClr val="FFFFFF"/>
                </a:solidFill>
                <a:latin typeface="Arial MT"/>
                <a:cs typeface="Arial MT"/>
              </a:rPr>
              <a:t>socket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12940" y="5682488"/>
            <a:ext cx="16090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Diskette</a:t>
            </a: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connector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5687" y="2348738"/>
            <a:ext cx="7905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PCI</a:t>
            </a:r>
            <a:r>
              <a:rPr sz="15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slots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0555" y="4736338"/>
            <a:ext cx="1161415" cy="6985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95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I/O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ontro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ll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er</a:t>
            </a:r>
            <a:endParaRPr sz="15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85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Speaker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27152" y="4190238"/>
            <a:ext cx="11931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Firmware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hub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01472" y="1218438"/>
            <a:ext cx="918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Audio</a:t>
            </a:r>
            <a:r>
              <a:rPr sz="15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chip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4939" y="5911088"/>
            <a:ext cx="420433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FFCC66"/>
                </a:solidFill>
                <a:latin typeface="Arial MT"/>
                <a:cs typeface="Arial MT"/>
              </a:rPr>
              <a:t>Source: </a:t>
            </a:r>
            <a:r>
              <a:rPr sz="1100" dirty="0">
                <a:solidFill>
                  <a:srgbClr val="FFCC66"/>
                </a:solidFill>
                <a:latin typeface="Arial MT"/>
                <a:cs typeface="Arial MT"/>
              </a:rPr>
              <a:t>Intel® Desktop </a:t>
            </a:r>
            <a:r>
              <a:rPr sz="1100" spc="-5" dirty="0">
                <a:solidFill>
                  <a:srgbClr val="FFCC66"/>
                </a:solidFill>
                <a:latin typeface="Arial MT"/>
                <a:cs typeface="Arial MT"/>
              </a:rPr>
              <a:t>Board D850MD/D850MV Technical Product </a:t>
            </a:r>
            <a:r>
              <a:rPr sz="1100" spc="-29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solidFill>
                  <a:srgbClr val="FFCC66"/>
                </a:solidFill>
                <a:latin typeface="Arial MT"/>
                <a:cs typeface="Arial MT"/>
              </a:rPr>
              <a:t>Specification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6534" y="264668"/>
            <a:ext cx="46494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Intel</a:t>
            </a:r>
            <a:r>
              <a:rPr spc="-35" dirty="0"/>
              <a:t> </a:t>
            </a:r>
            <a:r>
              <a:rPr spc="-5" dirty="0"/>
              <a:t>965</a:t>
            </a:r>
            <a:r>
              <a:rPr spc="-40" dirty="0"/>
              <a:t> </a:t>
            </a:r>
            <a:r>
              <a:rPr dirty="0"/>
              <a:t>Express</a:t>
            </a:r>
            <a:r>
              <a:rPr spc="-65" dirty="0"/>
              <a:t> </a:t>
            </a:r>
            <a:r>
              <a:rPr spc="-5" dirty="0"/>
              <a:t>Chipset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219200"/>
            <a:ext cx="5079999" cy="44688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3343" y="158495"/>
            <a:ext cx="2906267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74263" y="264668"/>
            <a:ext cx="23945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Video</a:t>
            </a:r>
            <a:r>
              <a:rPr spc="-75" dirty="0"/>
              <a:t> </a:t>
            </a:r>
            <a:r>
              <a:rPr spc="-10" dirty="0"/>
              <a:t>Output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1739" y="1247581"/>
            <a:ext cx="6301740" cy="390427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controller</a:t>
            </a:r>
            <a:endParaRPr sz="2400" dirty="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on motherboard,</a:t>
            </a:r>
            <a:r>
              <a:rPr sz="22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on expansion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card</a:t>
            </a:r>
            <a:endParaRPr sz="2200" dirty="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 err="1">
                <a:solidFill>
                  <a:srgbClr val="FFFFFF"/>
                </a:solidFill>
                <a:latin typeface="Arial MT"/>
                <a:cs typeface="Arial MT"/>
              </a:rPr>
              <a:t>AGP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n-US" sz="2200" spc="5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(VRAM)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Video CRT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Display</a:t>
            </a:r>
            <a:endParaRPr sz="2400" dirty="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uses raster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scanning</a:t>
            </a:r>
            <a:endParaRPr sz="2200" dirty="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horizontal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retrace</a:t>
            </a:r>
            <a:endParaRPr sz="2200" dirty="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vertical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retrace</a:t>
            </a:r>
            <a:endParaRPr sz="22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Direct digital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LCD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monitors</a:t>
            </a:r>
            <a:endParaRPr sz="2400" dirty="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no raster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scanning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required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656" y="158495"/>
            <a:ext cx="7057642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8575" y="264668"/>
            <a:ext cx="654430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Sample</a:t>
            </a:r>
            <a:r>
              <a:rPr spc="-25" dirty="0"/>
              <a:t> </a:t>
            </a:r>
            <a:r>
              <a:rPr spc="-5" dirty="0"/>
              <a:t>Video</a:t>
            </a:r>
            <a:r>
              <a:rPr spc="-25" dirty="0"/>
              <a:t> </a:t>
            </a:r>
            <a:r>
              <a:rPr spc="-5" dirty="0"/>
              <a:t>Controller</a:t>
            </a:r>
            <a:r>
              <a:rPr spc="-30" dirty="0"/>
              <a:t> </a:t>
            </a:r>
            <a:r>
              <a:rPr dirty="0"/>
              <a:t>(ATI</a:t>
            </a:r>
            <a:r>
              <a:rPr spc="-20" dirty="0"/>
              <a:t> </a:t>
            </a:r>
            <a:r>
              <a:rPr spc="-5" dirty="0"/>
              <a:t>Corp.)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1295400"/>
            <a:ext cx="4571999" cy="4038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1076" y="1335785"/>
            <a:ext cx="3227705" cy="391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93725" indent="-222885">
              <a:lnSpc>
                <a:spcPct val="100000"/>
              </a:lnSpc>
              <a:spcBef>
                <a:spcPts val="100"/>
              </a:spcBef>
              <a:buChar char="•"/>
              <a:tabLst>
                <a:tab pos="235585" algn="l"/>
              </a:tabLst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128-bit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 3D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graphics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 performance</a:t>
            </a:r>
            <a:r>
              <a:rPr sz="15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powered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by </a:t>
            </a:r>
            <a:r>
              <a:rPr sz="1500" spc="-5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RAGE™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128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PRO</a:t>
            </a:r>
            <a:endParaRPr sz="1500">
              <a:latin typeface="Verdana"/>
              <a:cs typeface="Verdana"/>
            </a:endParaRPr>
          </a:p>
          <a:p>
            <a:pPr marL="234950" indent="-222885">
              <a:lnSpc>
                <a:spcPct val="100000"/>
              </a:lnSpc>
              <a:spcBef>
                <a:spcPts val="900"/>
              </a:spcBef>
              <a:buChar char="•"/>
              <a:tabLst>
                <a:tab pos="235585" algn="l"/>
              </a:tabLst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3D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graphics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endParaRPr sz="1500">
              <a:latin typeface="Verdana"/>
              <a:cs typeface="Verdana"/>
            </a:endParaRPr>
          </a:p>
          <a:p>
            <a:pPr marL="234950" marR="628015" indent="-222885">
              <a:lnSpc>
                <a:spcPct val="100000"/>
              </a:lnSpc>
              <a:spcBef>
                <a:spcPts val="900"/>
              </a:spcBef>
              <a:buChar char="•"/>
              <a:tabLst>
                <a:tab pos="235585" algn="l"/>
              </a:tabLst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Intelligent</a:t>
            </a:r>
            <a:r>
              <a:rPr sz="15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Verdana"/>
                <a:cs typeface="Verdana"/>
              </a:rPr>
              <a:t>TV-Tuner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sz="1500" spc="-5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1500" spc="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VCR</a:t>
            </a:r>
            <a:endParaRPr sz="1500">
              <a:latin typeface="Verdana"/>
              <a:cs typeface="Verdana"/>
            </a:endParaRPr>
          </a:p>
          <a:p>
            <a:pPr marL="234950" indent="-222885">
              <a:lnSpc>
                <a:spcPct val="100000"/>
              </a:lnSpc>
              <a:spcBef>
                <a:spcPts val="875"/>
              </a:spcBef>
              <a:buChar char="•"/>
              <a:tabLst>
                <a:tab pos="234950" algn="l"/>
                <a:tab pos="235585" algn="l"/>
              </a:tabLst>
            </a:pPr>
            <a:r>
              <a:rPr sz="1500" spc="-15" dirty="0">
                <a:solidFill>
                  <a:srgbClr val="FFFFFF"/>
                </a:solidFill>
                <a:latin typeface="Arial MT"/>
                <a:cs typeface="Arial MT"/>
              </a:rPr>
              <a:t>TV-ON-DEMAND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™</a:t>
            </a:r>
            <a:endParaRPr sz="1500">
              <a:latin typeface="Verdana"/>
              <a:cs typeface="Verdana"/>
            </a:endParaRPr>
          </a:p>
          <a:p>
            <a:pPr marL="234950" indent="-222885">
              <a:lnSpc>
                <a:spcPct val="100000"/>
              </a:lnSpc>
              <a:spcBef>
                <a:spcPts val="925"/>
              </a:spcBef>
              <a:buChar char="•"/>
              <a:tabLst>
                <a:tab pos="235585" algn="l"/>
              </a:tabLst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Interactive</a:t>
            </a:r>
            <a:r>
              <a:rPr sz="15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Program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Guide</a:t>
            </a:r>
            <a:endParaRPr sz="1500">
              <a:latin typeface="Verdana"/>
              <a:cs typeface="Verdana"/>
            </a:endParaRPr>
          </a:p>
          <a:p>
            <a:pPr marL="234950" marR="5080" indent="-222885">
              <a:lnSpc>
                <a:spcPct val="100000"/>
              </a:lnSpc>
              <a:spcBef>
                <a:spcPts val="900"/>
              </a:spcBef>
              <a:buChar char="•"/>
              <a:tabLst>
                <a:tab pos="235585" algn="l"/>
              </a:tabLst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Still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image and MPEG-2 motion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video</a:t>
            </a:r>
            <a:r>
              <a:rPr sz="15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capture</a:t>
            </a:r>
            <a:endParaRPr sz="1500">
              <a:latin typeface="Verdana"/>
              <a:cs typeface="Verdana"/>
            </a:endParaRPr>
          </a:p>
          <a:p>
            <a:pPr marL="234950" indent="-222885">
              <a:lnSpc>
                <a:spcPct val="100000"/>
              </a:lnSpc>
              <a:spcBef>
                <a:spcPts val="900"/>
              </a:spcBef>
              <a:buChar char="•"/>
              <a:tabLst>
                <a:tab pos="235585" algn="l"/>
              </a:tabLst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Video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editing</a:t>
            </a:r>
            <a:endParaRPr sz="1500">
              <a:latin typeface="Verdana"/>
              <a:cs typeface="Verdana"/>
            </a:endParaRPr>
          </a:p>
          <a:p>
            <a:pPr marL="234950" indent="-222885">
              <a:lnSpc>
                <a:spcPct val="100000"/>
              </a:lnSpc>
              <a:spcBef>
                <a:spcPts val="900"/>
              </a:spcBef>
              <a:buChar char="•"/>
              <a:tabLst>
                <a:tab pos="235585" algn="l"/>
              </a:tabLst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Hardware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DVD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video</a:t>
            </a:r>
            <a:r>
              <a:rPr sz="15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playback</a:t>
            </a:r>
            <a:endParaRPr sz="1500">
              <a:latin typeface="Verdana"/>
              <a:cs typeface="Verdana"/>
            </a:endParaRPr>
          </a:p>
          <a:p>
            <a:pPr marL="234950" indent="-222885">
              <a:lnSpc>
                <a:spcPct val="100000"/>
              </a:lnSpc>
              <a:spcBef>
                <a:spcPts val="900"/>
              </a:spcBef>
              <a:buChar char="•"/>
              <a:tabLst>
                <a:tab pos="235585" algn="l"/>
              </a:tabLst>
            </a:pP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Video</a:t>
            </a:r>
            <a:r>
              <a:rPr sz="15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output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TV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VCR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447" y="158495"/>
            <a:ext cx="2004059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25398" y="264668"/>
            <a:ext cx="14916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Memo</a:t>
            </a:r>
            <a:r>
              <a:rPr dirty="0"/>
              <a:t>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962659"/>
            <a:ext cx="7198995" cy="49085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ROM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read-only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memory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EPROM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erasable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programmable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read-only</a:t>
            </a:r>
            <a:r>
              <a:rPr sz="1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Dynamic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RAM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(DRAM)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inexpensive;</a:t>
            </a:r>
            <a:r>
              <a:rPr sz="18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must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be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refreshed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constantly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Static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RAM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(SRAM)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expensive;</a:t>
            </a:r>
            <a:r>
              <a:rPr sz="18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cache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memory;</a:t>
            </a:r>
            <a:r>
              <a:rPr sz="1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refresh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required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RAM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(VRAM)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dual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ported;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optimized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constant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refresh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CMOS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RAM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complimentary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metal-oxide</a:t>
            </a:r>
            <a:r>
              <a:rPr sz="1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semiconductor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har char="•"/>
              <a:tabLst>
                <a:tab pos="756285" algn="l"/>
                <a:tab pos="75692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setup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information</a:t>
            </a:r>
            <a:endParaRPr sz="1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43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See:</a:t>
            </a:r>
            <a:r>
              <a:rPr sz="1800" spc="5" dirty="0">
                <a:solidFill>
                  <a:srgbClr val="ECFE02"/>
                </a:solidFill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ECFE02"/>
                </a:solidFill>
                <a:uFill>
                  <a:solidFill>
                    <a:srgbClr val="ECFE02"/>
                  </a:solidFill>
                </a:uFill>
                <a:latin typeface="Arial MT"/>
                <a:cs typeface="Arial MT"/>
                <a:hlinkClick r:id="rId3"/>
              </a:rPr>
              <a:t>Intel</a:t>
            </a:r>
            <a:r>
              <a:rPr sz="1800" u="heavy" spc="5" dirty="0">
                <a:solidFill>
                  <a:srgbClr val="ECFE02"/>
                </a:solidFill>
                <a:uFill>
                  <a:solidFill>
                    <a:srgbClr val="ECFE02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ECFE02"/>
                </a:solidFill>
                <a:uFill>
                  <a:solidFill>
                    <a:srgbClr val="ECFE02"/>
                  </a:solidFill>
                </a:uFill>
                <a:latin typeface="Arial MT"/>
                <a:cs typeface="Arial MT"/>
                <a:hlinkClick r:id="rId3"/>
              </a:rPr>
              <a:t>platform</a:t>
            </a:r>
            <a:r>
              <a:rPr sz="1800" u="heavy" dirty="0">
                <a:solidFill>
                  <a:srgbClr val="ECFE02"/>
                </a:solidFill>
                <a:uFill>
                  <a:solidFill>
                    <a:srgbClr val="ECFE02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ECFE02"/>
                </a:solidFill>
                <a:uFill>
                  <a:solidFill>
                    <a:srgbClr val="ECFE02"/>
                  </a:solidFill>
                </a:uFill>
                <a:latin typeface="Arial MT"/>
                <a:cs typeface="Arial MT"/>
                <a:hlinkClick r:id="rId3"/>
              </a:rPr>
              <a:t>memory</a:t>
            </a:r>
            <a:r>
              <a:rPr sz="1800" spc="25" dirty="0">
                <a:solidFill>
                  <a:srgbClr val="ECFE02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(Intel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brief: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link</a:t>
            </a:r>
            <a:r>
              <a:rPr sz="1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address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may </a:t>
            </a:r>
            <a:r>
              <a:rPr sz="1800" spc="-48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change)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9379" y="158495"/>
            <a:ext cx="3853179" cy="902335"/>
            <a:chOff x="2659379" y="158495"/>
            <a:chExt cx="3853179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9379" y="158496"/>
              <a:ext cx="1438643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1587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7223" y="158496"/>
              <a:ext cx="2814815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00298" y="264668"/>
            <a:ext cx="33401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Input-Output</a:t>
            </a:r>
            <a:r>
              <a:rPr spc="-100" dirty="0"/>
              <a:t> </a:t>
            </a:r>
            <a:r>
              <a:rPr spc="-5" dirty="0"/>
              <a:t>Ports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7939" y="1171381"/>
            <a:ext cx="6177280" cy="41490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USB (universal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serial bus)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intelligent high-speed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connection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devices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up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to 12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megabits/second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USB hub connects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multiple devices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i="1" spc="-5" dirty="0">
                <a:solidFill>
                  <a:srgbClr val="FFFFFF"/>
                </a:solidFill>
                <a:latin typeface="Arial"/>
                <a:cs typeface="Arial"/>
              </a:rPr>
              <a:t>enumeration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computer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queries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devices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supports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i="1" spc="-5" dirty="0">
                <a:solidFill>
                  <a:srgbClr val="FFFFFF"/>
                </a:solidFill>
                <a:latin typeface="Arial"/>
                <a:cs typeface="Arial"/>
              </a:rPr>
              <a:t>hot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connections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Parallel</a:t>
            </a:r>
            <a:endParaRPr sz="24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short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cable, high speed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common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for printers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bidirectional,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parallel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transfer</a:t>
            </a:r>
            <a:endParaRPr sz="2200">
              <a:latin typeface="Arial MT"/>
              <a:cs typeface="Arial MT"/>
            </a:endParaRPr>
          </a:p>
          <a:p>
            <a:pPr marL="756285" lvl="1" indent="-287655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Intel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8255 controller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chip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14372" y="158495"/>
            <a:ext cx="4683760" cy="902335"/>
            <a:chOff x="2214372" y="158495"/>
            <a:chExt cx="4683760" cy="902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4372" y="158495"/>
              <a:ext cx="1438655" cy="9022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6579" y="158495"/>
              <a:ext cx="672083" cy="9022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2216" y="158495"/>
              <a:ext cx="2926079" cy="9022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2807" y="286524"/>
              <a:ext cx="1194815" cy="68883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55291" y="264668"/>
            <a:ext cx="42329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Input-Output</a:t>
            </a:r>
            <a:r>
              <a:rPr spc="-55" dirty="0"/>
              <a:t> </a:t>
            </a:r>
            <a:r>
              <a:rPr spc="-5" dirty="0"/>
              <a:t>Ports</a:t>
            </a:r>
            <a:r>
              <a:rPr spc="-30" dirty="0"/>
              <a:t> </a:t>
            </a:r>
            <a:r>
              <a:rPr sz="2400" spc="-5" dirty="0"/>
              <a:t>(cont)</a:t>
            </a:r>
            <a:endParaRPr sz="2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9339" y="1323714"/>
            <a:ext cx="6564630" cy="28111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Serial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RS-232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serial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port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bit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uses long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cables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modems</a:t>
            </a:r>
            <a:endParaRPr sz="22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3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16550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UART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(universal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asynchronous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receiver </a:t>
            </a:r>
            <a:r>
              <a:rPr sz="22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transmitter)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programmable</a:t>
            </a:r>
            <a:r>
              <a:rPr sz="22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 assembly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language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772" y="158495"/>
            <a:ext cx="3675887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8722" y="264668"/>
            <a:ext cx="31623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Device</a:t>
            </a:r>
            <a:r>
              <a:rPr spc="-114" dirty="0"/>
              <a:t> </a:t>
            </a:r>
            <a:r>
              <a:rPr spc="-5" dirty="0"/>
              <a:t>Interfaces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9339" y="1323781"/>
            <a:ext cx="6954520" cy="41827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ATA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host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adapters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intelligent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drive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electronics (hard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drive,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CDROM)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SATA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(Serial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ATA)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inexpensive,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fast, bidirectional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FireWire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speed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(800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MB/sec),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many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devices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once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Bluetooth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ts val="2380"/>
              </a:lnSpc>
              <a:spcBef>
                <a:spcPts val="555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small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amounts</a:t>
            </a:r>
            <a:r>
              <a:rPr sz="2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data,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short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distances, low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power </a:t>
            </a:r>
            <a:r>
              <a:rPr sz="2200" spc="-5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usage</a:t>
            </a:r>
            <a:endParaRPr sz="2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5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Wi-Fi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(wireless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Ethernet)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IEEE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802.11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standard,</a:t>
            </a:r>
            <a:r>
              <a:rPr sz="2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faster</a:t>
            </a:r>
            <a:r>
              <a:rPr sz="2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Bluetooth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9355" y="158495"/>
            <a:ext cx="2714243" cy="902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What's</a:t>
            </a:r>
            <a:r>
              <a:rPr spc="-95" dirty="0"/>
              <a:t> </a:t>
            </a:r>
            <a:r>
              <a:rPr dirty="0"/>
              <a:t>Next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Irvine,</a:t>
            </a:r>
            <a:r>
              <a:rPr spc="10" dirty="0"/>
              <a:t> </a:t>
            </a:r>
            <a:r>
              <a:rPr spc="-10" dirty="0"/>
              <a:t>Kip</a:t>
            </a:r>
            <a:r>
              <a:rPr spc="15" dirty="0"/>
              <a:t> </a:t>
            </a:r>
            <a:r>
              <a:rPr spc="-5" dirty="0"/>
              <a:t>R.</a:t>
            </a:r>
            <a:r>
              <a:rPr dirty="0"/>
              <a:t> </a:t>
            </a:r>
            <a:r>
              <a:rPr spc="-5" dirty="0"/>
              <a:t>Assembly</a:t>
            </a:r>
            <a:r>
              <a:rPr spc="-10" dirty="0"/>
              <a:t> Language</a:t>
            </a:r>
            <a:r>
              <a:rPr spc="-15" dirty="0"/>
              <a:t> </a:t>
            </a:r>
            <a:r>
              <a:rPr dirty="0"/>
              <a:t>for</a:t>
            </a:r>
            <a:r>
              <a:rPr spc="-5" dirty="0"/>
              <a:t> x86</a:t>
            </a:r>
            <a:r>
              <a:rPr spc="-10" dirty="0"/>
              <a:t> </a:t>
            </a:r>
            <a:r>
              <a:rPr spc="-5" dirty="0"/>
              <a:t>Processors</a:t>
            </a:r>
            <a:r>
              <a:rPr spc="-15" dirty="0"/>
              <a:t> </a:t>
            </a:r>
            <a:r>
              <a:rPr spc="-10" dirty="0"/>
              <a:t>7/e,</a:t>
            </a:r>
            <a:r>
              <a:rPr spc="5" dirty="0"/>
              <a:t> </a:t>
            </a:r>
            <a:r>
              <a:rPr spc="-10" dirty="0"/>
              <a:t>2014.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758315" y="1557933"/>
            <a:ext cx="5627369" cy="162672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56590" indent="-342900">
              <a:lnSpc>
                <a:spcPct val="100000"/>
              </a:lnSpc>
              <a:spcBef>
                <a:spcPts val="6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General</a:t>
            </a:r>
            <a:r>
              <a:rPr spc="-15" dirty="0"/>
              <a:t> </a:t>
            </a:r>
            <a:r>
              <a:rPr spc="-5" dirty="0"/>
              <a:t>Concepts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5" dirty="0"/>
              <a:t> </a:t>
            </a:r>
            <a:r>
              <a:rPr spc="-5" dirty="0"/>
              <a:t>Processor</a:t>
            </a:r>
            <a:r>
              <a:rPr dirty="0"/>
              <a:t> </a:t>
            </a:r>
            <a:r>
              <a:rPr spc="-5" dirty="0"/>
              <a:t>Architecture</a:t>
            </a:r>
          </a:p>
          <a:p>
            <a:pPr marL="65659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IA-32</a:t>
            </a:r>
            <a:r>
              <a:rPr spc="-15" dirty="0"/>
              <a:t> </a:t>
            </a:r>
            <a:r>
              <a:rPr spc="-5" dirty="0"/>
              <a:t>Memory</a:t>
            </a:r>
            <a:r>
              <a:rPr spc="10" dirty="0"/>
              <a:t> </a:t>
            </a:r>
            <a:r>
              <a:rPr spc="-5" dirty="0"/>
              <a:t>Management</a:t>
            </a:r>
          </a:p>
          <a:p>
            <a:pPr marL="656590" indent="-342900">
              <a:lnSpc>
                <a:spcPct val="100000"/>
              </a:lnSpc>
              <a:spcBef>
                <a:spcPts val="525"/>
              </a:spcBef>
              <a:buChar char="•"/>
              <a:tabLst>
                <a:tab pos="656590" algn="l"/>
                <a:tab pos="657225" algn="l"/>
              </a:tabLst>
            </a:pPr>
            <a:r>
              <a:rPr spc="-5" dirty="0"/>
              <a:t>Components</a:t>
            </a:r>
            <a:r>
              <a:rPr spc="25" dirty="0"/>
              <a:t> </a:t>
            </a:r>
            <a:r>
              <a:rPr spc="-5" dirty="0"/>
              <a:t>of an IA-32</a:t>
            </a:r>
            <a:r>
              <a:rPr spc="5" dirty="0"/>
              <a:t> </a:t>
            </a:r>
            <a:r>
              <a:rPr spc="-5" dirty="0"/>
              <a:t>Microcomputer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CFE0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1885</Words>
  <Application>Microsoft Office PowerPoint</Application>
  <PresentationFormat>On-screen Show (4:3)</PresentationFormat>
  <Paragraphs>401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Arial MT</vt:lpstr>
      <vt:lpstr>Calibri</vt:lpstr>
      <vt:lpstr>Times New Roman</vt:lpstr>
      <vt:lpstr>Verdana</vt:lpstr>
      <vt:lpstr>Office Theme</vt:lpstr>
      <vt:lpstr>PowerPoint Presentation</vt:lpstr>
      <vt:lpstr>Lecture Overview</vt:lpstr>
      <vt:lpstr>General Concepts</vt:lpstr>
      <vt:lpstr>Basic Microcomputer Design</vt:lpstr>
      <vt:lpstr>Clock</vt:lpstr>
      <vt:lpstr>What's Next</vt:lpstr>
      <vt:lpstr>Instruction Execution Cycle</vt:lpstr>
      <vt:lpstr>Reading from Memory</vt:lpstr>
      <vt:lpstr>Cache Memory</vt:lpstr>
      <vt:lpstr>How a Program Runs</vt:lpstr>
      <vt:lpstr>IA-32 Processor Architecture</vt:lpstr>
      <vt:lpstr>Modes of Operation</vt:lpstr>
      <vt:lpstr>Real mode, Protected mode, virtual mode </vt:lpstr>
      <vt:lpstr>Basic Execution Environment</vt:lpstr>
      <vt:lpstr>Addressable Memory</vt:lpstr>
      <vt:lpstr>General-Purpose Registers</vt:lpstr>
      <vt:lpstr>Accessing Parts of Registers</vt:lpstr>
      <vt:lpstr>Index and Base Registers</vt:lpstr>
      <vt:lpstr>Some Specialized Register Uses (1 of 2)</vt:lpstr>
      <vt:lpstr>Some Specialized Register Uses (2 of 2)</vt:lpstr>
      <vt:lpstr>Status Flags</vt:lpstr>
      <vt:lpstr>Floating-Point, MMX, XMM Registers</vt:lpstr>
      <vt:lpstr>What's Next</vt:lpstr>
      <vt:lpstr>IA-32 Memory Management</vt:lpstr>
      <vt:lpstr>Protected Mode (1 of 2)</vt:lpstr>
      <vt:lpstr>What's Next</vt:lpstr>
      <vt:lpstr>64-Bit Processors</vt:lpstr>
      <vt:lpstr>64-Bit General Purpose Registers</vt:lpstr>
      <vt:lpstr>What's Next</vt:lpstr>
      <vt:lpstr>Components of an IA-32 Microcomputer</vt:lpstr>
      <vt:lpstr>Motherboard</vt:lpstr>
      <vt:lpstr>Intel D850MD Motherboard</vt:lpstr>
      <vt:lpstr>Intel 965 Express Chipset</vt:lpstr>
      <vt:lpstr>Video Output</vt:lpstr>
      <vt:lpstr>Sample Video Controller (ATI Corp.)</vt:lpstr>
      <vt:lpstr>Memory</vt:lpstr>
      <vt:lpstr>Input-Output Ports</vt:lpstr>
      <vt:lpstr>Input-Output Ports (cont)</vt:lpstr>
      <vt:lpstr>Device Interfaces</vt:lpstr>
      <vt:lpstr>What's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subject>IA-32 Processor Architecture</dc:subject>
  <dc:creator>Kip Irvine</dc:creator>
  <cp:lastModifiedBy>Nadeem Iqbal</cp:lastModifiedBy>
  <cp:revision>5</cp:revision>
  <dcterms:created xsi:type="dcterms:W3CDTF">2022-09-13T05:58:30Z</dcterms:created>
  <dcterms:modified xsi:type="dcterms:W3CDTF">2025-04-20T18:28:39Z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2016-10-17T00:00:00Z</vt:filetime>
  </property>
  <property fmtid="{D5CDD505-2E9C-101B-9397-08002B2CF9AE}" pid="3" name="Creator">
    <vt:lpwstr>Acrobat PDFMaker 10.1 for PowerPoint</vt:lpwstr>
  </property>
  <property fmtid="{D5CDD505-2E9C-101B-9397-08002B2CF9AE}" pid="4" name="LastSaved">
    <vt:filetime>2022-09-13T00:00:00Z</vt:filetime>
  </property>
</Properties>
</file>